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8" r:id="rId5"/>
    <p:sldId id="259" r:id="rId6"/>
    <p:sldId id="260" r:id="rId7"/>
    <p:sldId id="261" r:id="rId8"/>
    <p:sldId id="262" r:id="rId9"/>
    <p:sldId id="263" r:id="rId10"/>
    <p:sldId id="264"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08"/>
    <p:restoredTop sz="94617"/>
  </p:normalViewPr>
  <p:slideViewPr>
    <p:cSldViewPr snapToGrid="0" snapToObjects="1">
      <p:cViewPr varScale="1">
        <p:scale>
          <a:sx n="95" d="100"/>
          <a:sy n="95" d="100"/>
        </p:scale>
        <p:origin x="1062" y="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a:t>
            </a:r>
          </a:p>
          <a:p/>
          <a:p>
            <a:r>
              <a:t>Good afternoon. We are Team Survive, from Universiti Malaya and Asia Pacific University. MyTakziah is our proposed assistant for bereaved families: one family record, clearer next steps across death registration, EPF savings and SOCSO benefits.</a:t>
            </a:r>
          </a:p>
          <a:p/>
          <a:p>
            <a:r>
              <a:t>EVIDENCE AND LIMITS</a:t>
            </a:r>
          </a:p>
          <a:p/>
          <a:p>
            <a:r>
              <a:t>Team identity and selected scope are recorded in docs/decisions.md. This is a proposed service, not a live government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a:t>
            </a:r>
          </a:p>
          <a:p/>
          <a:p>
            <a:r>
              <a:t>Malaysia recorded almost two hundred thousand deaths in 2024. Its population is also ageing: the share aged sixty-five and over reached eight point four per cent in 2026. Our proposed first user is a surviving spouse handling the paperwork, with a family member helping if needed. The forms show the burden. Identity and death information recur across agencies; relationship and payment details recur across the benefit claims. Timing matters. EPF's discretionary two-thousand-five-hundred-ringgit Death Assistance requires an application within six months and the member's death before sixty, among other conditions. That is one concrete deadline. It is not a deadline for withdrawing all EPF savings.</a:t>
            </a:r>
          </a:p>
          <a:p/>
          <a:p>
            <a:r>
              <a:t>EVIDENCE AND LIMITS</a:t>
            </a:r>
          </a:p>
          <a:p/>
          <a:p>
            <a:r>
              <a:t>198,992 is deaths in Malaysia in 2024, not a customer count. The surviving-spouse segment is an assumption. The six-month condition applies to discretionary Death Assistance, not all EPF savings.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a:t>
            </a:r>
          </a:p>
          <a:p/>
          <a:p>
            <a:r>
              <a:t>Here is the journey we are proposing. The family provides shared details once to MyTakziah. We would reuse them to prepare the relevant forms and a checklist of supporting documents. The family sees published conditions, known deadlines and questions requiring agency confirmation. They review each agency's information separately. In the first service, the family would still submit through official channels. Required originals, signatures and thumbprints remain. These are screens from our interactive prototype. Agency responses are simulated; it does not file claims. The QR opens that walkthrough. Our immediate goal is to test whether families arrive better prepared, with a clearer understanding of what to do next.</a:t>
            </a:r>
          </a:p>
          <a:p/>
          <a:p>
            <a:r>
              <a:t>EVIDENCE AND LIMITS</a:t>
            </a:r>
          </a:p>
          <a:p/>
          <a:p>
            <a:r>
              <a:t>The prototype does not file claims. Screens do not prove working AI extraction or accepted official-form exports. Once means reuse within MyTakziah, not elimination of agency formalities.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a:t>
            </a:r>
          </a:p>
          <a:p/>
          <a:p>
            <a:r>
              <a:t>The innovation is connecting a family record to the right documents and next actions across agencies. An answer from a chatbot is not a completed preparation process. MyGOV brings services together; MyDigital ID authenticates users; MyGDX supports data exchange. We propose a focused bereavement workflow that could complement them. AI would extract draft details and explain cited instructions in plain language. Rules reviewed and kept current by people would control conditions and deadlines. Uncertain information must be checked, and agencies decide eligibility. We also recognise Britain's Tell Us Once as prior art. Our focus is preparing Malaysian benefit applications, with requirements specific to these agencies. That difference still needs user testing.</a:t>
            </a:r>
          </a:p>
          <a:p/>
          <a:p>
            <a:r>
              <a:t>EVIDENCE AND LIMITS</a:t>
            </a:r>
          </a:p>
          <a:p/>
          <a:p>
            <a:r>
              <a:t>Official forms support recurring information categories, not identical documents. AI responsibilities and competitive differentiation are proposed design boundaries, not validated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a:t>
            </a:r>
          </a:p>
          <a:p/>
          <a:p>
            <a:r>
              <a:t>Today we have an interactive prototype and documented comparisons of official forms. We have no recorded user interviews or agency integration. Our proposed next step is one community pilot in Petaling Jaya, subject to securing a host. First, speak with people who have handled a death and observe where preparation breaks down. Then test a reviewed checklist and draft forms using fictional details. Before handling real documents, we need independent rule and privacy review, and confirmation that the draft format is acceptable. Only then would we offer assisted preparation through that host. This tests value before government integration. Automated submission and agency status updates would require separate agreements and technical access.</a:t>
            </a:r>
          </a:p>
          <a:p/>
          <a:p>
            <a:r>
              <a:t>EVIDENCE AND LIMITS</a:t>
            </a:r>
          </a:p>
          <a:p/>
          <a:p>
            <a:r>
              <a:t>The pilot, host and reviewers are assumptions or TODOs. The initial pilot does not fulfil the full Track 02 integration ambition; it is staged evidence building.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a:t>
            </a:r>
          </a:p>
          <a:p/>
          <a:p>
            <a:r>
              <a:t>We want families to understand their next step and complete the right paperwork sooner. The pilot would measure preparation time, missing-document corrections and whether the relevant deadline was met. We have not measured those outcomes yet. EPF processed three point two four billion ringgit in death withdrawals in 2024. That shows the financial importance of this journey; it is not our revenue market. Only after demonstrating user value, our proposed funding test would keep core guidance free. Service providers could pay for optional directory listings. Families choose whether to contact them. Payment must never influence benefit guidance, and family documents must never become sales leads. Willingness to pay remains untested.</a:t>
            </a:r>
          </a:p>
          <a:p/>
          <a:p>
            <a:r>
              <a:t>EVIDENCE AND LIMITS</a:t>
            </a:r>
          </a:p>
          <a:p/>
          <a:p>
            <a:r>
              <a:t>RM3.24 billion is existing EPF withdrawal activity, not TAM, recoverable value or MyTakziah revenue. The directory model is an unvalidated assumption with ethical guardrails.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SCRIPT</a:t>
            </a:r>
          </a:p>
          <a:p/>
          <a:p>
            <a:r>
              <a:t>Our four-person team combines two computer science and two actuarial science students. Two members also built Layak, a previous hackathon grand champion. For MyTakziah, we have a prototype and agency research. Computing supports the interface; actuarial training supports structured checks. Independent agency expertise is our next gap. Our next milestone is a reviewed preparation workflow tested with users. We ask for introductions to one community host and an experienced benefits adviser, plus a privacy mentor. Prize funding would support that work, with a budget agreed before spending. One loss should not mean starting over at every counter. Thank you.</a:t>
            </a:r>
          </a:p>
          <a:p/>
          <a:p>
            <a:r>
              <a:t>EVIDENCE AND LIMITS</a:t>
            </a:r>
          </a:p>
          <a:p/>
          <a:p>
            <a:r>
              <a:t>Team composition and Layak experience are team-supplied. Two members built Layak, not all four. No host, adviser or privacy mentor is secured.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notesSlide" Target="../notesSlides/notesSlide7.xml"/></Relationships>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511952" cy="307777"/>
          </a:xfrm>
          <a:prstGeom prst="rect">
            <a:avLst/>
          </a:prstGeom>
          <a:noFill/>
        </p:spPr>
        <p:txBody>
          <a:bodyPr wrap="none">
            <a:spAutoFit/>
          </a:bodyPr>
          <a:lstStyle/>
          <a:p>
            <a:pPr>
              <a:defRPr sz="1100" b="1">
                <a:solidFill>
                  <a:srgbClr val="1869AA"/>
                </a:solidFill>
                <a:latin typeface="Arial"/>
              </a:defRPr>
            </a:pPr>
            <a:r>
              <a:rPr sz="1400" dirty="0"/>
              <a:t>OPEN STRONG</a:t>
            </a:r>
          </a:p>
        </p:txBody>
      </p:sp>
      <p:sp>
        <p:nvSpPr>
          <p:cNvPr id="4" name="TextBox 3"/>
          <p:cNvSpPr txBox="1"/>
          <p:nvPr/>
        </p:nvSpPr>
        <p:spPr>
          <a:xfrm>
            <a:off x="685800" y="777240"/>
            <a:ext cx="10789920" cy="594360"/>
          </a:xfrm>
          <a:prstGeom prst="rect">
            <a:avLst/>
          </a:prstGeom>
          <a:noFill/>
        </p:spPr>
        <p:txBody>
          <a:bodyPr wrap="none">
            <a:spAutoFit/>
          </a:bodyPr>
          <a:lstStyle/>
          <a:p>
            <a:pPr>
              <a:defRPr sz="2700" b="1">
                <a:solidFill>
                  <a:srgbClr val="0C2138"/>
                </a:solidFill>
                <a:latin typeface="Arial"/>
              </a:defRPr>
            </a:pPr>
            <a:r>
              <a:t>1. The Idea</a:t>
            </a:r>
          </a:p>
        </p:txBody>
      </p:sp>
      <p:sp>
        <p:nvSpPr>
          <p:cNvPr id="11" name="Rectangle 10"/>
          <p:cNvSpPr/>
          <p:nvPr/>
        </p:nvSpPr>
        <p:spPr>
          <a:xfrm>
            <a:off x="685800" y="6446520"/>
            <a:ext cx="10817352" cy="274320"/>
          </a:xfrm>
          <a:prstGeom prst="rect">
            <a:avLst/>
          </a:prstGeom>
          <a:solidFill>
            <a:srgbClr val="DCE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6446520"/>
            <a:ext cx="9601200" cy="274320"/>
          </a:xfrm>
          <a:prstGeom prst="rect">
            <a:avLst/>
          </a:prstGeom>
          <a:noFill/>
        </p:spPr>
        <p:txBody>
          <a:bodyPr wrap="none">
            <a:spAutoFit/>
          </a:bodyPr>
          <a:lstStyle/>
          <a:p>
            <a:pPr>
              <a:defRPr sz="800">
                <a:solidFill>
                  <a:srgbClr val="646E78"/>
                </a:solidFill>
                <a:latin typeface="Arial"/>
              </a:defRPr>
            </a:pPr>
            <a:r>
              <a:t>URIIS Student Biz Innov Challenge 2026 | Final Pitch</a:t>
            </a:r>
          </a:p>
        </p:txBody>
      </p:sp>
      <p:sp>
        <p:nvSpPr>
          <p:cNvPr id="13" name="TextBox 12"/>
          <p:cNvSpPr txBox="1"/>
          <p:nvPr/>
        </p:nvSpPr>
        <p:spPr>
          <a:xfrm>
            <a:off x="11187625" y="6446520"/>
            <a:ext cx="242375" cy="274320"/>
          </a:xfrm>
          <a:prstGeom prst="rect">
            <a:avLst/>
          </a:prstGeom>
          <a:noFill/>
        </p:spPr>
        <p:txBody>
          <a:bodyPr wrap="none">
            <a:spAutoFit/>
          </a:bodyPr>
          <a:lstStyle/>
          <a:p>
            <a:pPr algn="r">
              <a:defRPr sz="800">
                <a:solidFill>
                  <a:srgbClr val="646E78"/>
                </a:solidFill>
                <a:latin typeface="Arial"/>
              </a:defRPr>
            </a:pPr>
            <a:r>
              <a:rPr lang="en-US" dirty="0"/>
              <a:t>1</a:t>
            </a:r>
            <a:endParaRPr dirty="0"/>
          </a:p>
        </p:txBody>
      </p:sp>
      <p:pic>
        <p:nvPicPr>
          <p:cNvPr id="14" name="Picture 13" descr="A logo for a university research and innovation summit&#10;&#10;Description automatically generated">
            <a:extLst>
              <a:ext uri="{FF2B5EF4-FFF2-40B4-BE49-F238E27FC236}">
                <a16:creationId xmlns:a16="http://schemas.microsoft.com/office/drawing/2014/main" id="{879A5D42-C5D6-93B9-4737-372176B31963}"/>
              </a:ext>
            </a:extLst>
          </p:cNvPr>
          <p:cNvPicPr>
            <a:picLocks noChangeAspect="1"/>
          </p:cNvPicPr>
          <p:nvPr/>
        </p:nvPicPr>
        <p:blipFill>
          <a:blip r:embed="rId2"/>
          <a:stretch>
            <a:fillRect/>
          </a:stretch>
        </p:blipFill>
        <p:spPr>
          <a:xfrm>
            <a:off x="11341303" y="0"/>
            <a:ext cx="850392" cy="850392"/>
          </a:xfrm>
          <a:prstGeom prst="rect">
            <a:avLst/>
          </a:prstGeom>
        </p:spPr>
      </p:pic>
      <p:pic>
        <p:nvPicPr>
          <p:cNvPr id="15" name="Picture 14" descr="mark.png"/>
          <p:cNvPicPr>
            <a:picLocks noChangeAspect="1"/>
          </p:cNvPicPr>
          <p:nvPr/>
        </p:nvPicPr>
        <p:blipFill>
          <a:blip r:embed="rId3"/>
          <a:stretch>
            <a:fillRect/>
          </a:stretch>
        </p:blipFill>
        <p:spPr>
          <a:xfrm>
            <a:off x="713232" y="1755648"/>
            <a:ext cx="694944" cy="694944"/>
          </a:xfrm>
          <a:prstGeom prst="rect">
            <a:avLst/>
          </a:prstGeom>
        </p:spPr>
      </p:pic>
      <p:sp>
        <p:nvSpPr>
          <p:cNvPr id="16" name="TextBox 15"/>
          <p:cNvSpPr txBox="1"/>
          <p:nvPr/>
        </p:nvSpPr>
        <p:spPr>
          <a:xfrm>
            <a:off x="1627632" y="1645920"/>
            <a:ext cx="5486400" cy="841248"/>
          </a:xfrm>
          <a:prstGeom prst="rect">
            <a:avLst/>
          </a:prstGeom>
          <a:noFill/>
        </p:spPr>
        <p:txBody>
          <a:bodyPr wrap="square" lIns="18288" rIns="18288" tIns="18288" bIns="18288" anchor="t">
            <a:spAutoFit/>
          </a:bodyPr>
          <a:lstStyle/>
          <a:p>
            <a:pPr algn="l">
              <a:lnSpc>
                <a:spcPct val="104000"/>
              </a:lnSpc>
              <a:spcAft>
                <a:spcPts val="0"/>
              </a:spcAft>
            </a:pPr>
            <a:r>
              <a:rPr sz="5400" b="1">
                <a:solidFill>
                  <a:srgbClr val="281913"/>
                </a:solidFill>
                <a:latin typeface="Arial"/>
              </a:rPr>
              <a:t>MyTakziah</a:t>
            </a:r>
          </a:p>
        </p:txBody>
      </p:sp>
      <p:sp>
        <p:nvSpPr>
          <p:cNvPr id="17" name="TextBox 16"/>
          <p:cNvSpPr txBox="1"/>
          <p:nvPr/>
        </p:nvSpPr>
        <p:spPr>
          <a:xfrm>
            <a:off x="713232" y="2670048"/>
            <a:ext cx="6629400" cy="950976"/>
          </a:xfrm>
          <a:prstGeom prst="rect">
            <a:avLst/>
          </a:prstGeom>
          <a:noFill/>
        </p:spPr>
        <p:txBody>
          <a:bodyPr wrap="square" lIns="18288" rIns="18288" tIns="18288" bIns="18288" anchor="t">
            <a:spAutoFit/>
          </a:bodyPr>
          <a:lstStyle/>
          <a:p>
            <a:pPr algn="l">
              <a:lnSpc>
                <a:spcPct val="104000"/>
              </a:lnSpc>
              <a:spcAft>
                <a:spcPts val="0"/>
              </a:spcAft>
            </a:pPr>
            <a:r>
              <a:rPr sz="2900" b="1">
                <a:solidFill>
                  <a:srgbClr val="BC4D1A"/>
                </a:solidFill>
                <a:latin typeface="Arial"/>
              </a:rPr>
              <a:t>One Family Record. Clearer Next Steps.</a:t>
            </a:r>
          </a:p>
        </p:txBody>
      </p:sp>
      <p:sp>
        <p:nvSpPr>
          <p:cNvPr id="18" name="TextBox 17"/>
          <p:cNvSpPr txBox="1"/>
          <p:nvPr/>
        </p:nvSpPr>
        <p:spPr>
          <a:xfrm>
            <a:off x="713232" y="3730752"/>
            <a:ext cx="6400800" cy="731520"/>
          </a:xfrm>
          <a:prstGeom prst="rect">
            <a:avLst/>
          </a:prstGeom>
          <a:noFill/>
        </p:spPr>
        <p:txBody>
          <a:bodyPr wrap="square" lIns="18288" rIns="18288" tIns="18288" bIns="18288" anchor="t">
            <a:spAutoFit/>
          </a:bodyPr>
          <a:lstStyle/>
          <a:p>
            <a:pPr algn="l">
              <a:lnSpc>
                <a:spcPct val="104000"/>
              </a:lnSpc>
              <a:spcAft>
                <a:spcPts val="0"/>
              </a:spcAft>
            </a:pPr>
            <a:r>
              <a:rPr sz="1800" b="0">
                <a:solidFill>
                  <a:srgbClr val="6E635C"/>
                </a:solidFill>
                <a:latin typeface="Arial"/>
              </a:rPr>
              <a:t>A proposed assistant helping bereaved families prepare for JPN, KWSP and PERKESO.</a:t>
            </a:r>
          </a:p>
        </p:txBody>
      </p:sp>
      <p:cxnSp>
        <p:nvCxnSpPr>
          <p:cNvPr id="19" name="Connector 18"/>
          <p:cNvCxnSpPr/>
          <p:nvPr/>
        </p:nvCxnSpPr>
        <p:spPr>
          <a:xfrm>
            <a:off x="713232" y="4956048"/>
            <a:ext cx="6355080"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13232" y="5102352"/>
            <a:ext cx="6583680" cy="292608"/>
          </a:xfrm>
          <a:prstGeom prst="rect">
            <a:avLst/>
          </a:prstGeom>
          <a:noFill/>
        </p:spPr>
        <p:txBody>
          <a:bodyPr wrap="square" lIns="18288" rIns="18288" tIns="18288" bIns="18288" anchor="t">
            <a:spAutoFit/>
          </a:bodyPr>
          <a:lstStyle/>
          <a:p>
            <a:pPr algn="l">
              <a:lnSpc>
                <a:spcPct val="104000"/>
              </a:lnSpc>
              <a:spcAft>
                <a:spcPts val="0"/>
              </a:spcAft>
            </a:pPr>
            <a:r>
              <a:rPr sz="1600" b="1">
                <a:solidFill>
                  <a:srgbClr val="281913"/>
                </a:solidFill>
                <a:latin typeface="Arial"/>
              </a:rPr>
              <a:t>Team Survive | Universiti Malaya and Asia Pacific University</a:t>
            </a:r>
          </a:p>
        </p:txBody>
      </p:sp>
      <p:sp>
        <p:nvSpPr>
          <p:cNvPr id="21" name="TextBox 20"/>
          <p:cNvSpPr txBox="1"/>
          <p:nvPr/>
        </p:nvSpPr>
        <p:spPr>
          <a:xfrm>
            <a:off x="713232" y="5468112"/>
            <a:ext cx="6400800" cy="310896"/>
          </a:xfrm>
          <a:prstGeom prst="rect">
            <a:avLst/>
          </a:prstGeom>
          <a:noFill/>
        </p:spPr>
        <p:txBody>
          <a:bodyPr wrap="square" lIns="18288" rIns="18288" tIns="18288" bIns="18288" anchor="t">
            <a:spAutoFit/>
          </a:bodyPr>
          <a:lstStyle/>
          <a:p>
            <a:pPr algn="l">
              <a:lnSpc>
                <a:spcPct val="104000"/>
              </a:lnSpc>
              <a:spcAft>
                <a:spcPts val="0"/>
              </a:spcAft>
            </a:pPr>
            <a:r>
              <a:rPr sz="1200" b="0">
                <a:solidFill>
                  <a:srgbClr val="6E635C"/>
                </a:solidFill>
                <a:latin typeface="Arial"/>
              </a:rPr>
              <a:t>Anderson Ling | Hee Zi Jie | Wong Xuan Rui | Yow Li Hao</a:t>
            </a:r>
          </a:p>
        </p:txBody>
      </p:sp>
      <p:sp>
        <p:nvSpPr>
          <p:cNvPr id="22" name="Rounded Rectangle 21"/>
          <p:cNvSpPr/>
          <p:nvPr/>
        </p:nvSpPr>
        <p:spPr>
          <a:xfrm>
            <a:off x="7717536" y="2359152"/>
            <a:ext cx="1627632" cy="1389888"/>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mark.png"/>
          <p:cNvPicPr>
            <a:picLocks noChangeAspect="1"/>
          </p:cNvPicPr>
          <p:nvPr/>
        </p:nvPicPr>
        <p:blipFill>
          <a:blip r:embed="rId3"/>
          <a:stretch>
            <a:fillRect/>
          </a:stretch>
        </p:blipFill>
        <p:spPr>
          <a:xfrm>
            <a:off x="8211312" y="2587752"/>
            <a:ext cx="502920" cy="502920"/>
          </a:xfrm>
          <a:prstGeom prst="rect">
            <a:avLst/>
          </a:prstGeom>
        </p:spPr>
      </p:pic>
      <p:sp>
        <p:nvSpPr>
          <p:cNvPr id="24" name="TextBox 23"/>
          <p:cNvSpPr txBox="1"/>
          <p:nvPr/>
        </p:nvSpPr>
        <p:spPr>
          <a:xfrm>
            <a:off x="7863840" y="3182112"/>
            <a:ext cx="1335024" cy="256032"/>
          </a:xfrm>
          <a:prstGeom prst="rect">
            <a:avLst/>
          </a:prstGeom>
          <a:noFill/>
        </p:spPr>
        <p:txBody>
          <a:bodyPr wrap="square" lIns="18288" rIns="18288" tIns="18288" bIns="18288" anchor="t">
            <a:spAutoFit/>
          </a:bodyPr>
          <a:lstStyle/>
          <a:p>
            <a:pPr algn="ctr">
              <a:lnSpc>
                <a:spcPct val="104000"/>
              </a:lnSpc>
              <a:spcAft>
                <a:spcPts val="0"/>
              </a:spcAft>
            </a:pPr>
            <a:r>
              <a:rPr sz="1300" b="1">
                <a:solidFill>
                  <a:srgbClr val="281913"/>
                </a:solidFill>
                <a:latin typeface="Arial"/>
              </a:rPr>
              <a:t>Family Record</a:t>
            </a:r>
          </a:p>
        </p:txBody>
      </p:sp>
      <p:cxnSp>
        <p:nvCxnSpPr>
          <p:cNvPr id="25" name="Connector 24"/>
          <p:cNvCxnSpPr/>
          <p:nvPr/>
        </p:nvCxnSpPr>
        <p:spPr>
          <a:xfrm flipV="1">
            <a:off x="9345168" y="2404872"/>
            <a:ext cx="758952" cy="649224"/>
          </a:xfrm>
          <a:prstGeom prst="line">
            <a:avLst/>
          </a:prstGeom>
          <a:ln w="17780">
            <a:solidFill>
              <a:srgbClr val="376D7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10104120" y="2176272"/>
            <a:ext cx="1078992" cy="457200"/>
          </a:xfrm>
          <a:prstGeom prst="roundRect">
            <a:avLst/>
          </a:prstGeom>
          <a:solidFill>
            <a:srgbClr val="FFFFFF"/>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104120" y="2240279"/>
            <a:ext cx="1078992" cy="256032"/>
          </a:xfrm>
          <a:prstGeom prst="rect">
            <a:avLst/>
          </a:prstGeom>
          <a:noFill/>
        </p:spPr>
        <p:txBody>
          <a:bodyPr wrap="square" lIns="18288" rIns="18288" tIns="18288" bIns="18288" anchor="t">
            <a:spAutoFit/>
          </a:bodyPr>
          <a:lstStyle/>
          <a:p>
            <a:pPr algn="ctr">
              <a:lnSpc>
                <a:spcPct val="104000"/>
              </a:lnSpc>
              <a:spcAft>
                <a:spcPts val="0"/>
              </a:spcAft>
            </a:pPr>
            <a:r>
              <a:rPr sz="1400" b="1">
                <a:solidFill>
                  <a:srgbClr val="376D7C"/>
                </a:solidFill>
                <a:latin typeface="Arial"/>
              </a:rPr>
              <a:t>JPN</a:t>
            </a:r>
          </a:p>
        </p:txBody>
      </p:sp>
      <p:cxnSp>
        <p:nvCxnSpPr>
          <p:cNvPr id="28" name="Connector 27"/>
          <p:cNvCxnSpPr/>
          <p:nvPr/>
        </p:nvCxnSpPr>
        <p:spPr>
          <a:xfrm>
            <a:off x="9345168" y="3054096"/>
            <a:ext cx="758952" cy="292608"/>
          </a:xfrm>
          <a:prstGeom prst="line">
            <a:avLst/>
          </a:prstGeom>
          <a:ln w="17780">
            <a:solidFill>
              <a:srgbClr val="376D7C"/>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104120" y="3118104"/>
            <a:ext cx="1078992" cy="457200"/>
          </a:xfrm>
          <a:prstGeom prst="roundRect">
            <a:avLst/>
          </a:prstGeom>
          <a:solidFill>
            <a:srgbClr val="FFFFFF"/>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104120" y="3182112"/>
            <a:ext cx="1078992" cy="256032"/>
          </a:xfrm>
          <a:prstGeom prst="rect">
            <a:avLst/>
          </a:prstGeom>
          <a:noFill/>
        </p:spPr>
        <p:txBody>
          <a:bodyPr wrap="square" lIns="18288" rIns="18288" tIns="18288" bIns="18288" anchor="t">
            <a:spAutoFit/>
          </a:bodyPr>
          <a:lstStyle/>
          <a:p>
            <a:pPr algn="ctr">
              <a:lnSpc>
                <a:spcPct val="104000"/>
              </a:lnSpc>
              <a:spcAft>
                <a:spcPts val="0"/>
              </a:spcAft>
            </a:pPr>
            <a:r>
              <a:rPr sz="1400" b="1">
                <a:solidFill>
                  <a:srgbClr val="376D7C"/>
                </a:solidFill>
                <a:latin typeface="Arial"/>
              </a:rPr>
              <a:t>KWSP</a:t>
            </a:r>
          </a:p>
        </p:txBody>
      </p:sp>
      <p:cxnSp>
        <p:nvCxnSpPr>
          <p:cNvPr id="31" name="Connector 30"/>
          <p:cNvCxnSpPr/>
          <p:nvPr/>
        </p:nvCxnSpPr>
        <p:spPr>
          <a:xfrm>
            <a:off x="9345168" y="3054096"/>
            <a:ext cx="758952" cy="1234440"/>
          </a:xfrm>
          <a:prstGeom prst="line">
            <a:avLst/>
          </a:prstGeom>
          <a:ln w="17780">
            <a:solidFill>
              <a:srgbClr val="376D7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10104120" y="4059936"/>
            <a:ext cx="1078992" cy="457200"/>
          </a:xfrm>
          <a:prstGeom prst="roundRect">
            <a:avLst/>
          </a:prstGeom>
          <a:solidFill>
            <a:srgbClr val="FFFFFF"/>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104120" y="4123944"/>
            <a:ext cx="1078992" cy="256032"/>
          </a:xfrm>
          <a:prstGeom prst="rect">
            <a:avLst/>
          </a:prstGeom>
          <a:noFill/>
        </p:spPr>
        <p:txBody>
          <a:bodyPr wrap="square" lIns="18288" rIns="18288" tIns="18288" bIns="18288" anchor="t">
            <a:spAutoFit/>
          </a:bodyPr>
          <a:lstStyle/>
          <a:p>
            <a:pPr algn="ctr">
              <a:lnSpc>
                <a:spcPct val="104000"/>
              </a:lnSpc>
              <a:spcAft>
                <a:spcPts val="0"/>
              </a:spcAft>
            </a:pPr>
            <a:r>
              <a:rPr sz="1400" b="1">
                <a:solidFill>
                  <a:srgbClr val="376D7C"/>
                </a:solidFill>
                <a:latin typeface="Arial"/>
              </a:rPr>
              <a:t>PERKESO</a:t>
            </a:r>
          </a:p>
        </p:txBody>
      </p:sp>
      <p:sp>
        <p:nvSpPr>
          <p:cNvPr id="34" name="TextBox 33"/>
          <p:cNvSpPr txBox="1"/>
          <p:nvPr/>
        </p:nvSpPr>
        <p:spPr>
          <a:xfrm>
            <a:off x="7818120" y="5212080"/>
            <a:ext cx="3383280" cy="502920"/>
          </a:xfrm>
          <a:prstGeom prst="rect">
            <a:avLst/>
          </a:prstGeom>
          <a:noFill/>
        </p:spPr>
        <p:txBody>
          <a:bodyPr wrap="square" lIns="18288" rIns="18288" tIns="18288" bIns="18288" anchor="t">
            <a:spAutoFit/>
          </a:bodyPr>
          <a:lstStyle/>
          <a:p>
            <a:pPr algn="r">
              <a:lnSpc>
                <a:spcPct val="104000"/>
              </a:lnSpc>
              <a:spcAft>
                <a:spcPts val="0"/>
              </a:spcAft>
            </a:pPr>
            <a:r>
              <a:rPr sz="1050" b="1">
                <a:solidFill>
                  <a:srgbClr val="376D7C"/>
                </a:solidFill>
                <a:latin typeface="Arial"/>
              </a:rPr>
              <a:t>Student Proposal
Not an Official Government Service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963423" cy="307777"/>
          </a:xfrm>
          <a:prstGeom prst="rect">
            <a:avLst/>
          </a:prstGeom>
          <a:noFill/>
        </p:spPr>
        <p:txBody>
          <a:bodyPr wrap="none">
            <a:spAutoFit/>
          </a:bodyPr>
          <a:lstStyle/>
          <a:p>
            <a:pPr>
              <a:defRPr sz="1100" b="1">
                <a:solidFill>
                  <a:srgbClr val="1869AA"/>
                </a:solidFill>
                <a:latin typeface="Arial"/>
              </a:defRPr>
            </a:pPr>
            <a:r>
              <a:rPr sz="1400" dirty="0"/>
              <a:t>WHY THIS MATTERS</a:t>
            </a:r>
          </a:p>
        </p:txBody>
      </p:sp>
      <p:sp>
        <p:nvSpPr>
          <p:cNvPr id="4" name="TextBox 3"/>
          <p:cNvSpPr txBox="1"/>
          <p:nvPr/>
        </p:nvSpPr>
        <p:spPr>
          <a:xfrm>
            <a:off x="685800" y="777240"/>
            <a:ext cx="10789920" cy="594360"/>
          </a:xfrm>
          <a:prstGeom prst="rect">
            <a:avLst/>
          </a:prstGeom>
          <a:noFill/>
        </p:spPr>
        <p:txBody>
          <a:bodyPr wrap="none">
            <a:spAutoFit/>
          </a:bodyPr>
          <a:lstStyle/>
          <a:p>
            <a:pPr>
              <a:defRPr sz="2700" b="1">
                <a:solidFill>
                  <a:srgbClr val="0C2138"/>
                </a:solidFill>
                <a:latin typeface="Arial"/>
              </a:defRPr>
            </a:pPr>
            <a:r>
              <a:t>2. The Problem</a:t>
            </a:r>
          </a:p>
        </p:txBody>
      </p:sp>
      <p:sp>
        <p:nvSpPr>
          <p:cNvPr id="11" name="Rectangle 10"/>
          <p:cNvSpPr/>
          <p:nvPr/>
        </p:nvSpPr>
        <p:spPr>
          <a:xfrm>
            <a:off x="685800" y="6446520"/>
            <a:ext cx="10817352" cy="274320"/>
          </a:xfrm>
          <a:prstGeom prst="rect">
            <a:avLst/>
          </a:prstGeom>
          <a:solidFill>
            <a:srgbClr val="DCE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6446520"/>
            <a:ext cx="9601200" cy="274320"/>
          </a:xfrm>
          <a:prstGeom prst="rect">
            <a:avLst/>
          </a:prstGeom>
          <a:noFill/>
        </p:spPr>
        <p:txBody>
          <a:bodyPr wrap="none">
            <a:spAutoFit/>
          </a:bodyPr>
          <a:lstStyle/>
          <a:p>
            <a:pPr>
              <a:defRPr sz="800">
                <a:solidFill>
                  <a:srgbClr val="646E78"/>
                </a:solidFill>
                <a:latin typeface="Arial"/>
              </a:defRPr>
            </a:pPr>
            <a:r>
              <a:t>URIIS Student Biz Innov Challenge 2026 | Final Pitch</a:t>
            </a:r>
          </a:p>
        </p:txBody>
      </p:sp>
      <p:sp>
        <p:nvSpPr>
          <p:cNvPr id="13" name="TextBox 12"/>
          <p:cNvSpPr txBox="1"/>
          <p:nvPr/>
        </p:nvSpPr>
        <p:spPr>
          <a:xfrm>
            <a:off x="11187625" y="6446520"/>
            <a:ext cx="242375" cy="274320"/>
          </a:xfrm>
          <a:prstGeom prst="rect">
            <a:avLst/>
          </a:prstGeom>
          <a:noFill/>
        </p:spPr>
        <p:txBody>
          <a:bodyPr wrap="none">
            <a:spAutoFit/>
          </a:bodyPr>
          <a:lstStyle/>
          <a:p>
            <a:pPr algn="r">
              <a:defRPr sz="800">
                <a:solidFill>
                  <a:srgbClr val="646E78"/>
                </a:solidFill>
                <a:latin typeface="Arial"/>
              </a:defRPr>
            </a:pPr>
            <a:r>
              <a:rPr lang="en-US" dirty="0"/>
              <a:t>2</a:t>
            </a:r>
            <a:endParaRPr dirty="0"/>
          </a:p>
        </p:txBody>
      </p:sp>
      <p:pic>
        <p:nvPicPr>
          <p:cNvPr id="14" name="Picture 13" descr="A logo for a university research and innovation summit&#10;&#10;Description automatically generated">
            <a:extLst>
              <a:ext uri="{FF2B5EF4-FFF2-40B4-BE49-F238E27FC236}">
                <a16:creationId xmlns:a16="http://schemas.microsoft.com/office/drawing/2014/main" id="{D7452F9B-587D-E144-1F0E-B8DD58EDECA4}"/>
              </a:ext>
            </a:extLst>
          </p:cNvPr>
          <p:cNvPicPr>
            <a:picLocks noChangeAspect="1"/>
          </p:cNvPicPr>
          <p:nvPr/>
        </p:nvPicPr>
        <p:blipFill>
          <a:blip r:embed="rId2"/>
          <a:stretch>
            <a:fillRect/>
          </a:stretch>
        </p:blipFill>
        <p:spPr>
          <a:xfrm>
            <a:off x="11341303" y="0"/>
            <a:ext cx="850392" cy="850392"/>
          </a:xfrm>
          <a:prstGeom prst="rect">
            <a:avLst/>
          </a:prstGeom>
        </p:spPr>
      </p:pic>
      <p:sp>
        <p:nvSpPr>
          <p:cNvPr id="15" name="TextBox 14"/>
          <p:cNvSpPr txBox="1"/>
          <p:nvPr/>
        </p:nvSpPr>
        <p:spPr>
          <a:xfrm>
            <a:off x="713232" y="1536192"/>
            <a:ext cx="10424160" cy="493776"/>
          </a:xfrm>
          <a:prstGeom prst="rect">
            <a:avLst/>
          </a:prstGeom>
          <a:noFill/>
        </p:spPr>
        <p:txBody>
          <a:bodyPr wrap="square" lIns="18288" rIns="18288" tIns="18288" bIns="18288" anchor="t">
            <a:spAutoFit/>
          </a:bodyPr>
          <a:lstStyle/>
          <a:p>
            <a:pPr algn="l">
              <a:lnSpc>
                <a:spcPct val="104000"/>
              </a:lnSpc>
              <a:spcAft>
                <a:spcPts val="0"/>
              </a:spcAft>
            </a:pPr>
            <a:r>
              <a:rPr sz="3000" b="1">
                <a:solidFill>
                  <a:srgbClr val="281913"/>
                </a:solidFill>
                <a:latin typeface="Arial"/>
              </a:rPr>
              <a:t>After a Death, the Paperwork Still Repeats</a:t>
            </a:r>
          </a:p>
        </p:txBody>
      </p:sp>
      <p:cxnSp>
        <p:nvCxnSpPr>
          <p:cNvPr id="16" name="Connector 15"/>
          <p:cNvCxnSpPr/>
          <p:nvPr/>
        </p:nvCxnSpPr>
        <p:spPr>
          <a:xfrm>
            <a:off x="713232" y="2304288"/>
            <a:ext cx="3246120" cy="0"/>
          </a:xfrm>
          <a:prstGeom prst="line">
            <a:avLst/>
          </a:prstGeom>
          <a:ln w="43180">
            <a:solidFill>
              <a:srgbClr val="BC4D1A"/>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13232" y="2468880"/>
            <a:ext cx="2926080" cy="932688"/>
          </a:xfrm>
          <a:prstGeom prst="rect">
            <a:avLst/>
          </a:prstGeom>
          <a:noFill/>
        </p:spPr>
        <p:txBody>
          <a:bodyPr wrap="square" lIns="18288" rIns="18288" tIns="18288" bIns="18288" anchor="t">
            <a:spAutoFit/>
          </a:bodyPr>
          <a:lstStyle/>
          <a:p>
            <a:pPr algn="l">
              <a:lnSpc>
                <a:spcPct val="104000"/>
              </a:lnSpc>
              <a:spcAft>
                <a:spcPts val="0"/>
              </a:spcAft>
            </a:pPr>
            <a:r>
              <a:rPr sz="5700" b="1">
                <a:solidFill>
                  <a:srgbClr val="BC4D1A"/>
                </a:solidFill>
                <a:latin typeface="Arial"/>
              </a:rPr>
              <a:t>198,992</a:t>
            </a:r>
          </a:p>
        </p:txBody>
      </p:sp>
      <p:sp>
        <p:nvSpPr>
          <p:cNvPr id="18" name="TextBox 17"/>
          <p:cNvSpPr txBox="1"/>
          <p:nvPr/>
        </p:nvSpPr>
        <p:spPr>
          <a:xfrm>
            <a:off x="713232" y="3493008"/>
            <a:ext cx="2971800" cy="640080"/>
          </a:xfrm>
          <a:prstGeom prst="rect">
            <a:avLst/>
          </a:prstGeom>
          <a:noFill/>
        </p:spPr>
        <p:txBody>
          <a:bodyPr wrap="square" lIns="18288" rIns="18288" tIns="18288" bIns="18288" anchor="t">
            <a:spAutoFit/>
          </a:bodyPr>
          <a:lstStyle/>
          <a:p>
            <a:pPr algn="l">
              <a:lnSpc>
                <a:spcPct val="104000"/>
              </a:lnSpc>
              <a:spcAft>
                <a:spcPts val="0"/>
              </a:spcAft>
            </a:pPr>
            <a:r>
              <a:rPr sz="1700" b="0">
                <a:solidFill>
                  <a:srgbClr val="281913"/>
                </a:solidFill>
                <a:latin typeface="Arial"/>
              </a:rPr>
              <a:t>deaths recorded in Malaysia in 2024</a:t>
            </a:r>
          </a:p>
        </p:txBody>
      </p:sp>
      <p:cxnSp>
        <p:nvCxnSpPr>
          <p:cNvPr id="19" name="Connector 18"/>
          <p:cNvCxnSpPr/>
          <p:nvPr/>
        </p:nvCxnSpPr>
        <p:spPr>
          <a:xfrm>
            <a:off x="4069080" y="2395728"/>
            <a:ext cx="7114032"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069080" y="2596896"/>
            <a:ext cx="1143000" cy="320040"/>
          </a:xfrm>
          <a:prstGeom prst="rect">
            <a:avLst/>
          </a:prstGeom>
          <a:noFill/>
        </p:spPr>
        <p:txBody>
          <a:bodyPr wrap="square" lIns="18288" rIns="18288" tIns="18288" bIns="18288" anchor="t">
            <a:spAutoFit/>
          </a:bodyPr>
          <a:lstStyle/>
          <a:p>
            <a:pPr algn="l">
              <a:lnSpc>
                <a:spcPct val="104000"/>
              </a:lnSpc>
              <a:spcAft>
                <a:spcPts val="0"/>
              </a:spcAft>
            </a:pPr>
            <a:r>
              <a:rPr sz="1800" b="1">
                <a:solidFill>
                  <a:srgbClr val="376D7C"/>
                </a:solidFill>
                <a:latin typeface="Arial"/>
              </a:rPr>
              <a:t>JPN</a:t>
            </a:r>
          </a:p>
        </p:txBody>
      </p:sp>
      <p:sp>
        <p:nvSpPr>
          <p:cNvPr id="21" name="Rounded Rectangle 20"/>
          <p:cNvSpPr/>
          <p:nvPr/>
        </p:nvSpPr>
        <p:spPr>
          <a:xfrm>
            <a:off x="5413248" y="2505456"/>
            <a:ext cx="2414016" cy="512064"/>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2624328"/>
            <a:ext cx="2057400" cy="256032"/>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Identity</a:t>
            </a:r>
          </a:p>
        </p:txBody>
      </p:sp>
      <p:sp>
        <p:nvSpPr>
          <p:cNvPr id="23" name="Rounded Rectangle 22"/>
          <p:cNvSpPr/>
          <p:nvPr/>
        </p:nvSpPr>
        <p:spPr>
          <a:xfrm>
            <a:off x="8046720" y="2505456"/>
            <a:ext cx="3127248" cy="512064"/>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11312" y="2624328"/>
            <a:ext cx="2788920" cy="256032"/>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Proof of Death</a:t>
            </a:r>
          </a:p>
        </p:txBody>
      </p:sp>
      <p:cxnSp>
        <p:nvCxnSpPr>
          <p:cNvPr id="25" name="Connector 24"/>
          <p:cNvCxnSpPr/>
          <p:nvPr/>
        </p:nvCxnSpPr>
        <p:spPr>
          <a:xfrm>
            <a:off x="4069080" y="3172968"/>
            <a:ext cx="7114032"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069080" y="3374136"/>
            <a:ext cx="1143000" cy="320040"/>
          </a:xfrm>
          <a:prstGeom prst="rect">
            <a:avLst/>
          </a:prstGeom>
          <a:noFill/>
        </p:spPr>
        <p:txBody>
          <a:bodyPr wrap="square" lIns="18288" rIns="18288" tIns="18288" bIns="18288" anchor="t">
            <a:spAutoFit/>
          </a:bodyPr>
          <a:lstStyle/>
          <a:p>
            <a:pPr algn="l">
              <a:lnSpc>
                <a:spcPct val="104000"/>
              </a:lnSpc>
              <a:spcAft>
                <a:spcPts val="0"/>
              </a:spcAft>
            </a:pPr>
            <a:r>
              <a:rPr sz="1800" b="1">
                <a:solidFill>
                  <a:srgbClr val="376D7C"/>
                </a:solidFill>
                <a:latin typeface="Arial"/>
              </a:rPr>
              <a:t>KWSP</a:t>
            </a:r>
          </a:p>
        </p:txBody>
      </p:sp>
      <p:sp>
        <p:nvSpPr>
          <p:cNvPr id="27" name="Rounded Rectangle 26"/>
          <p:cNvSpPr/>
          <p:nvPr/>
        </p:nvSpPr>
        <p:spPr>
          <a:xfrm>
            <a:off x="5413248" y="3282696"/>
            <a:ext cx="2414016" cy="512064"/>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77840" y="3401568"/>
            <a:ext cx="2057400" cy="256032"/>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Identity</a:t>
            </a:r>
          </a:p>
        </p:txBody>
      </p:sp>
      <p:sp>
        <p:nvSpPr>
          <p:cNvPr id="29" name="Rounded Rectangle 28"/>
          <p:cNvSpPr/>
          <p:nvPr/>
        </p:nvSpPr>
        <p:spPr>
          <a:xfrm>
            <a:off x="8046720" y="3282696"/>
            <a:ext cx="3127248" cy="512064"/>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11312" y="3401568"/>
            <a:ext cx="2788920" cy="256032"/>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Proof of Death</a:t>
            </a:r>
          </a:p>
        </p:txBody>
      </p:sp>
      <p:cxnSp>
        <p:nvCxnSpPr>
          <p:cNvPr id="31" name="Connector 30"/>
          <p:cNvCxnSpPr/>
          <p:nvPr/>
        </p:nvCxnSpPr>
        <p:spPr>
          <a:xfrm>
            <a:off x="4069080" y="3950208"/>
            <a:ext cx="7114032"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4069080" y="4151376"/>
            <a:ext cx="1143000" cy="320040"/>
          </a:xfrm>
          <a:prstGeom prst="rect">
            <a:avLst/>
          </a:prstGeom>
          <a:noFill/>
        </p:spPr>
        <p:txBody>
          <a:bodyPr wrap="square" lIns="18288" rIns="18288" tIns="18288" bIns="18288" anchor="t">
            <a:spAutoFit/>
          </a:bodyPr>
          <a:lstStyle/>
          <a:p>
            <a:pPr algn="l">
              <a:lnSpc>
                <a:spcPct val="104000"/>
              </a:lnSpc>
              <a:spcAft>
                <a:spcPts val="0"/>
              </a:spcAft>
            </a:pPr>
            <a:r>
              <a:rPr sz="1800" b="1">
                <a:solidFill>
                  <a:srgbClr val="376D7C"/>
                </a:solidFill>
                <a:latin typeface="Arial"/>
              </a:rPr>
              <a:t>PERKESO</a:t>
            </a:r>
          </a:p>
        </p:txBody>
      </p:sp>
      <p:sp>
        <p:nvSpPr>
          <p:cNvPr id="33" name="Rounded Rectangle 32"/>
          <p:cNvSpPr/>
          <p:nvPr/>
        </p:nvSpPr>
        <p:spPr>
          <a:xfrm>
            <a:off x="5413248" y="4059936"/>
            <a:ext cx="2414016" cy="512064"/>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577840" y="4178808"/>
            <a:ext cx="2057400" cy="256032"/>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Identity</a:t>
            </a:r>
          </a:p>
        </p:txBody>
      </p:sp>
      <p:sp>
        <p:nvSpPr>
          <p:cNvPr id="35" name="Rounded Rectangle 34"/>
          <p:cNvSpPr/>
          <p:nvPr/>
        </p:nvSpPr>
        <p:spPr>
          <a:xfrm>
            <a:off x="8046720" y="4059936"/>
            <a:ext cx="3127248" cy="512064"/>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11312" y="4178808"/>
            <a:ext cx="2788920" cy="256032"/>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Proof of Death</a:t>
            </a:r>
          </a:p>
        </p:txBody>
      </p:sp>
      <p:sp>
        <p:nvSpPr>
          <p:cNvPr id="37" name="Rounded Rectangle 36"/>
          <p:cNvSpPr/>
          <p:nvPr/>
        </p:nvSpPr>
        <p:spPr>
          <a:xfrm>
            <a:off x="713232" y="4983480"/>
            <a:ext cx="10469880" cy="950976"/>
          </a:xfrm>
          <a:prstGeom prst="roundRect">
            <a:avLst/>
          </a:prstGeom>
          <a:solidFill>
            <a:srgbClr val="FFFFFF"/>
          </a:solidFill>
          <a:ln w="10160">
            <a:solidFill>
              <a:srgbClr val="DCA7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4400" y="5102352"/>
            <a:ext cx="3749039" cy="457200"/>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A Deadline Families Cannot Afford to Miss</a:t>
            </a:r>
          </a:p>
        </p:txBody>
      </p:sp>
      <p:sp>
        <p:nvSpPr>
          <p:cNvPr id="39" name="TextBox 38"/>
          <p:cNvSpPr txBox="1"/>
          <p:nvPr/>
        </p:nvSpPr>
        <p:spPr>
          <a:xfrm>
            <a:off x="4800600" y="5120640"/>
            <a:ext cx="6062472" cy="548640"/>
          </a:xfrm>
          <a:prstGeom prst="rect">
            <a:avLst/>
          </a:prstGeom>
          <a:noFill/>
        </p:spPr>
        <p:txBody>
          <a:bodyPr wrap="square" lIns="18288" rIns="18288" tIns="18288" bIns="18288" anchor="t">
            <a:spAutoFit/>
          </a:bodyPr>
          <a:lstStyle/>
          <a:p>
            <a:pPr algn="l">
              <a:lnSpc>
                <a:spcPct val="104000"/>
              </a:lnSpc>
              <a:spcAft>
                <a:spcPts val="0"/>
              </a:spcAft>
            </a:pPr>
            <a:r>
              <a:rPr sz="1300" b="0">
                <a:solidFill>
                  <a:srgbClr val="6E635C"/>
                </a:solidFill>
                <a:latin typeface="Arial"/>
              </a:rPr>
              <a:t>EPF Death Assistance: application within six months, death before 60, and other conditions. Not a deadline for withdrawing all EPF savings.</a:t>
            </a:r>
          </a:p>
        </p:txBody>
      </p:sp>
      <p:sp>
        <p:nvSpPr>
          <p:cNvPr id="40" name="TextBox 39"/>
          <p:cNvSpPr txBox="1"/>
          <p:nvPr/>
        </p:nvSpPr>
        <p:spPr>
          <a:xfrm>
            <a:off x="685800" y="6245352"/>
            <a:ext cx="10561320" cy="201168"/>
          </a:xfrm>
          <a:prstGeom prst="rect">
            <a:avLst/>
          </a:prstGeom>
          <a:noFill/>
        </p:spPr>
        <p:txBody>
          <a:bodyPr wrap="square" lIns="18288" rIns="18288" tIns="18288" bIns="18288" anchor="t">
            <a:spAutoFit/>
          </a:bodyPr>
          <a:lstStyle/>
          <a:p>
            <a:pPr algn="l">
              <a:lnSpc>
                <a:spcPct val="104000"/>
              </a:lnSpc>
              <a:spcAft>
                <a:spcPts val="0"/>
              </a:spcAft>
            </a:pPr>
            <a:r>
              <a:rPr sz="900" b="0">
                <a:solidFill>
                  <a:srgbClr val="6E635C"/>
                </a:solidFill>
                <a:latin typeface="Arial"/>
              </a:rPr>
              <a:t>Sources: DOSM, Vital Statistics, Malaysia, 2025; DOSM, Current Population Estimates, 2026; KWSP, Death Withdrawal.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3048591" cy="307777"/>
          </a:xfrm>
          <a:prstGeom prst="rect">
            <a:avLst/>
          </a:prstGeom>
          <a:noFill/>
        </p:spPr>
        <p:txBody>
          <a:bodyPr wrap="none">
            <a:spAutoFit/>
          </a:bodyPr>
          <a:lstStyle/>
          <a:p>
            <a:pPr>
              <a:defRPr sz="1100" b="1">
                <a:solidFill>
                  <a:srgbClr val="1869AA"/>
                </a:solidFill>
                <a:latin typeface="Arial"/>
              </a:defRPr>
            </a:pPr>
            <a:r>
              <a:rPr sz="1400" dirty="0"/>
              <a:t>MAKE IT EASY TO UNDERSTAND</a:t>
            </a:r>
          </a:p>
        </p:txBody>
      </p:sp>
      <p:sp>
        <p:nvSpPr>
          <p:cNvPr id="4" name="TextBox 3"/>
          <p:cNvSpPr txBox="1"/>
          <p:nvPr/>
        </p:nvSpPr>
        <p:spPr>
          <a:xfrm>
            <a:off x="685800" y="777240"/>
            <a:ext cx="10789920" cy="594360"/>
          </a:xfrm>
          <a:prstGeom prst="rect">
            <a:avLst/>
          </a:prstGeom>
          <a:noFill/>
        </p:spPr>
        <p:txBody>
          <a:bodyPr wrap="none">
            <a:spAutoFit/>
          </a:bodyPr>
          <a:lstStyle/>
          <a:p>
            <a:pPr>
              <a:defRPr sz="2700" b="1">
                <a:solidFill>
                  <a:srgbClr val="0C2138"/>
                </a:solidFill>
                <a:latin typeface="Arial"/>
              </a:defRPr>
            </a:pPr>
            <a:r>
              <a:t>3. Our Solution</a:t>
            </a:r>
          </a:p>
        </p:txBody>
      </p:sp>
      <p:sp>
        <p:nvSpPr>
          <p:cNvPr id="11" name="Rectangle 10"/>
          <p:cNvSpPr/>
          <p:nvPr/>
        </p:nvSpPr>
        <p:spPr>
          <a:xfrm>
            <a:off x="685800" y="6446520"/>
            <a:ext cx="10817352" cy="274320"/>
          </a:xfrm>
          <a:prstGeom prst="rect">
            <a:avLst/>
          </a:prstGeom>
          <a:solidFill>
            <a:srgbClr val="DCE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6446520"/>
            <a:ext cx="9601200" cy="274320"/>
          </a:xfrm>
          <a:prstGeom prst="rect">
            <a:avLst/>
          </a:prstGeom>
          <a:noFill/>
        </p:spPr>
        <p:txBody>
          <a:bodyPr wrap="none">
            <a:spAutoFit/>
          </a:bodyPr>
          <a:lstStyle/>
          <a:p>
            <a:pPr>
              <a:defRPr sz="800">
                <a:solidFill>
                  <a:srgbClr val="646E78"/>
                </a:solidFill>
                <a:latin typeface="Arial"/>
              </a:defRPr>
            </a:pPr>
            <a:r>
              <a:t>URIIS Student Biz Innov Challenge 2026 | Final Pitch</a:t>
            </a:r>
          </a:p>
        </p:txBody>
      </p:sp>
      <p:sp>
        <p:nvSpPr>
          <p:cNvPr id="13" name="TextBox 12"/>
          <p:cNvSpPr txBox="1"/>
          <p:nvPr/>
        </p:nvSpPr>
        <p:spPr>
          <a:xfrm>
            <a:off x="11187625" y="6446520"/>
            <a:ext cx="242375" cy="274320"/>
          </a:xfrm>
          <a:prstGeom prst="rect">
            <a:avLst/>
          </a:prstGeom>
          <a:noFill/>
        </p:spPr>
        <p:txBody>
          <a:bodyPr wrap="none">
            <a:spAutoFit/>
          </a:bodyPr>
          <a:lstStyle/>
          <a:p>
            <a:pPr algn="r">
              <a:defRPr sz="800">
                <a:solidFill>
                  <a:srgbClr val="646E78"/>
                </a:solidFill>
                <a:latin typeface="Arial"/>
              </a:defRPr>
            </a:pPr>
            <a:r>
              <a:rPr lang="en-US" dirty="0"/>
              <a:t>3</a:t>
            </a:r>
            <a:endParaRPr dirty="0"/>
          </a:p>
        </p:txBody>
      </p:sp>
      <p:pic>
        <p:nvPicPr>
          <p:cNvPr id="14" name="Picture 13" descr="A logo for a university research and innovation summit&#10;&#10;Description automatically generated">
            <a:extLst>
              <a:ext uri="{FF2B5EF4-FFF2-40B4-BE49-F238E27FC236}">
                <a16:creationId xmlns:a16="http://schemas.microsoft.com/office/drawing/2014/main" id="{CB18DA0F-7DF4-726D-7F5B-5C0FA11B5585}"/>
              </a:ext>
            </a:extLst>
          </p:cNvPr>
          <p:cNvPicPr>
            <a:picLocks noChangeAspect="1"/>
          </p:cNvPicPr>
          <p:nvPr/>
        </p:nvPicPr>
        <p:blipFill>
          <a:blip r:embed="rId2"/>
          <a:stretch>
            <a:fillRect/>
          </a:stretch>
        </p:blipFill>
        <p:spPr>
          <a:xfrm>
            <a:off x="11341303" y="0"/>
            <a:ext cx="850392" cy="850392"/>
          </a:xfrm>
          <a:prstGeom prst="rect">
            <a:avLst/>
          </a:prstGeom>
        </p:spPr>
      </p:pic>
      <p:sp>
        <p:nvSpPr>
          <p:cNvPr id="15" name="TextBox 14"/>
          <p:cNvSpPr txBox="1"/>
          <p:nvPr/>
        </p:nvSpPr>
        <p:spPr>
          <a:xfrm>
            <a:off x="713232" y="1536192"/>
            <a:ext cx="10607040" cy="493776"/>
          </a:xfrm>
          <a:prstGeom prst="rect">
            <a:avLst/>
          </a:prstGeom>
          <a:noFill/>
        </p:spPr>
        <p:txBody>
          <a:bodyPr wrap="square" lIns="18288" rIns="18288" tIns="18288" bIns="18288" anchor="t">
            <a:spAutoFit/>
          </a:bodyPr>
          <a:lstStyle/>
          <a:p>
            <a:pPr algn="l">
              <a:lnSpc>
                <a:spcPct val="104000"/>
              </a:lnSpc>
              <a:spcAft>
                <a:spcPts val="0"/>
              </a:spcAft>
            </a:pPr>
            <a:r>
              <a:rPr sz="2800" b="1">
                <a:solidFill>
                  <a:srgbClr val="281913"/>
                </a:solidFill>
                <a:latin typeface="Arial"/>
              </a:rPr>
              <a:t>Provide Shared Details Once. Prepare the Next Step.</a:t>
            </a:r>
          </a:p>
        </p:txBody>
      </p:sp>
      <p:sp>
        <p:nvSpPr>
          <p:cNvPr id="16" name="TextBox 15"/>
          <p:cNvSpPr txBox="1"/>
          <p:nvPr/>
        </p:nvSpPr>
        <p:spPr>
          <a:xfrm>
            <a:off x="713232" y="2331720"/>
            <a:ext cx="2377440" cy="274320"/>
          </a:xfrm>
          <a:prstGeom prst="rect">
            <a:avLst/>
          </a:prstGeom>
          <a:noFill/>
        </p:spPr>
        <p:txBody>
          <a:bodyPr wrap="square" lIns="18288" rIns="18288" tIns="18288" bIns="18288" anchor="t">
            <a:spAutoFit/>
          </a:bodyPr>
          <a:lstStyle/>
          <a:p>
            <a:pPr algn="l">
              <a:lnSpc>
                <a:spcPct val="104000"/>
              </a:lnSpc>
              <a:spcAft>
                <a:spcPts val="0"/>
              </a:spcAft>
            </a:pPr>
            <a:r>
              <a:rPr sz="1700" b="1">
                <a:solidFill>
                  <a:srgbClr val="BC4D1A"/>
                </a:solidFill>
                <a:latin typeface="Arial"/>
              </a:rPr>
              <a:t>Reuse</a:t>
            </a:r>
          </a:p>
        </p:txBody>
      </p:sp>
      <p:sp>
        <p:nvSpPr>
          <p:cNvPr id="17" name="TextBox 16"/>
          <p:cNvSpPr txBox="1"/>
          <p:nvPr/>
        </p:nvSpPr>
        <p:spPr>
          <a:xfrm>
            <a:off x="713232" y="2660903"/>
            <a:ext cx="2743200" cy="402336"/>
          </a:xfrm>
          <a:prstGeom prst="rect">
            <a:avLst/>
          </a:prstGeom>
          <a:noFill/>
        </p:spPr>
        <p:txBody>
          <a:bodyPr wrap="square" lIns="18288" rIns="18288" tIns="18288" bIns="18288" anchor="t">
            <a:spAutoFit/>
          </a:bodyPr>
          <a:lstStyle/>
          <a:p>
            <a:pPr algn="l">
              <a:lnSpc>
                <a:spcPct val="104000"/>
              </a:lnSpc>
              <a:spcAft>
                <a:spcPts val="0"/>
              </a:spcAft>
            </a:pPr>
            <a:r>
              <a:rPr sz="1160" b="0">
                <a:solidFill>
                  <a:srgbClr val="6E635C"/>
                </a:solidFill>
                <a:latin typeface="Arial"/>
              </a:rPr>
              <a:t>Shared details in relevant draft forms.</a:t>
            </a:r>
          </a:p>
        </p:txBody>
      </p:sp>
      <p:cxnSp>
        <p:nvCxnSpPr>
          <p:cNvPr id="18" name="Connector 17"/>
          <p:cNvCxnSpPr/>
          <p:nvPr/>
        </p:nvCxnSpPr>
        <p:spPr>
          <a:xfrm>
            <a:off x="713232" y="3044952"/>
            <a:ext cx="2788920"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3232" y="3136391"/>
            <a:ext cx="2377440" cy="274320"/>
          </a:xfrm>
          <a:prstGeom prst="rect">
            <a:avLst/>
          </a:prstGeom>
          <a:noFill/>
        </p:spPr>
        <p:txBody>
          <a:bodyPr wrap="square" lIns="18288" rIns="18288" tIns="18288" bIns="18288" anchor="t">
            <a:spAutoFit/>
          </a:bodyPr>
          <a:lstStyle/>
          <a:p>
            <a:pPr algn="l">
              <a:lnSpc>
                <a:spcPct val="104000"/>
              </a:lnSpc>
              <a:spcAft>
                <a:spcPts val="0"/>
              </a:spcAft>
            </a:pPr>
            <a:r>
              <a:rPr sz="1700" b="1">
                <a:solidFill>
                  <a:srgbClr val="BC4D1A"/>
                </a:solidFill>
                <a:latin typeface="Arial"/>
              </a:rPr>
              <a:t>Review</a:t>
            </a:r>
          </a:p>
        </p:txBody>
      </p:sp>
      <p:sp>
        <p:nvSpPr>
          <p:cNvPr id="20" name="TextBox 19"/>
          <p:cNvSpPr txBox="1"/>
          <p:nvPr/>
        </p:nvSpPr>
        <p:spPr>
          <a:xfrm>
            <a:off x="713232" y="3465575"/>
            <a:ext cx="2743200" cy="402336"/>
          </a:xfrm>
          <a:prstGeom prst="rect">
            <a:avLst/>
          </a:prstGeom>
          <a:noFill/>
        </p:spPr>
        <p:txBody>
          <a:bodyPr wrap="square" lIns="18288" rIns="18288" tIns="18288" bIns="18288" anchor="t">
            <a:spAutoFit/>
          </a:bodyPr>
          <a:lstStyle/>
          <a:p>
            <a:pPr algn="l">
              <a:lnSpc>
                <a:spcPct val="104000"/>
              </a:lnSpc>
              <a:spcAft>
                <a:spcPts val="0"/>
              </a:spcAft>
            </a:pPr>
            <a:r>
              <a:rPr sz="1160" b="0">
                <a:solidFill>
                  <a:srgbClr val="6E635C"/>
                </a:solidFill>
                <a:latin typeface="Arial"/>
              </a:rPr>
              <a:t>Requirements, known deadlines and questions that need checking.</a:t>
            </a:r>
          </a:p>
        </p:txBody>
      </p:sp>
      <p:cxnSp>
        <p:nvCxnSpPr>
          <p:cNvPr id="21" name="Connector 20"/>
          <p:cNvCxnSpPr/>
          <p:nvPr/>
        </p:nvCxnSpPr>
        <p:spPr>
          <a:xfrm>
            <a:off x="713232" y="3849624"/>
            <a:ext cx="2788920"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13232" y="3941063"/>
            <a:ext cx="2377440" cy="274320"/>
          </a:xfrm>
          <a:prstGeom prst="rect">
            <a:avLst/>
          </a:prstGeom>
          <a:noFill/>
        </p:spPr>
        <p:txBody>
          <a:bodyPr wrap="square" lIns="18288" rIns="18288" tIns="18288" bIns="18288" anchor="t">
            <a:spAutoFit/>
          </a:bodyPr>
          <a:lstStyle/>
          <a:p>
            <a:pPr algn="l">
              <a:lnSpc>
                <a:spcPct val="104000"/>
              </a:lnSpc>
              <a:spcAft>
                <a:spcPts val="0"/>
              </a:spcAft>
            </a:pPr>
            <a:r>
              <a:rPr sz="1700" b="1">
                <a:solidFill>
                  <a:srgbClr val="BC4D1A"/>
                </a:solidFill>
                <a:latin typeface="Arial"/>
              </a:rPr>
              <a:t>Submit Officially</a:t>
            </a:r>
          </a:p>
        </p:txBody>
      </p:sp>
      <p:sp>
        <p:nvSpPr>
          <p:cNvPr id="23" name="TextBox 22"/>
          <p:cNvSpPr txBox="1"/>
          <p:nvPr/>
        </p:nvSpPr>
        <p:spPr>
          <a:xfrm>
            <a:off x="713232" y="4270248"/>
            <a:ext cx="2743200" cy="402336"/>
          </a:xfrm>
          <a:prstGeom prst="rect">
            <a:avLst/>
          </a:prstGeom>
          <a:noFill/>
        </p:spPr>
        <p:txBody>
          <a:bodyPr wrap="square" lIns="18288" rIns="18288" tIns="18288" bIns="18288" anchor="t">
            <a:spAutoFit/>
          </a:bodyPr>
          <a:lstStyle/>
          <a:p>
            <a:pPr algn="l">
              <a:lnSpc>
                <a:spcPct val="104000"/>
              </a:lnSpc>
              <a:spcAft>
                <a:spcPts val="0"/>
              </a:spcAft>
            </a:pPr>
            <a:r>
              <a:rPr sz="1160" b="0">
                <a:solidFill>
                  <a:srgbClr val="6E635C"/>
                </a:solidFill>
                <a:latin typeface="Arial"/>
              </a:rPr>
              <a:t>The family uses official channels. Agencies decide.</a:t>
            </a:r>
          </a:p>
        </p:txBody>
      </p:sp>
      <p:pic>
        <p:nvPicPr>
          <p:cNvPr id="24" name="Picture 23" descr="qr-logo.png"/>
          <p:cNvPicPr>
            <a:picLocks noChangeAspect="1"/>
          </p:cNvPicPr>
          <p:nvPr/>
        </p:nvPicPr>
        <p:blipFill>
          <a:blip r:embed="rId3"/>
          <a:stretch>
            <a:fillRect/>
          </a:stretch>
        </p:blipFill>
        <p:spPr>
          <a:xfrm>
            <a:off x="749808" y="4370832"/>
            <a:ext cx="1463040" cy="1463040"/>
          </a:xfrm>
          <a:prstGeom prst="rect">
            <a:avLst/>
          </a:prstGeom>
        </p:spPr>
      </p:pic>
      <p:sp>
        <p:nvSpPr>
          <p:cNvPr id="25" name="TextBox 24"/>
          <p:cNvSpPr txBox="1"/>
          <p:nvPr/>
        </p:nvSpPr>
        <p:spPr>
          <a:xfrm>
            <a:off x="2377440" y="4745736"/>
            <a:ext cx="1298448" cy="402336"/>
          </a:xfrm>
          <a:prstGeom prst="rect">
            <a:avLst/>
          </a:prstGeom>
          <a:noFill/>
        </p:spPr>
        <p:txBody>
          <a:bodyPr wrap="square" lIns="18288" rIns="18288" tIns="18288" bIns="18288" anchor="t">
            <a:spAutoFit/>
          </a:bodyPr>
          <a:lstStyle/>
          <a:p>
            <a:pPr algn="l">
              <a:lnSpc>
                <a:spcPct val="104000"/>
              </a:lnSpc>
              <a:spcAft>
                <a:spcPts val="0"/>
              </a:spcAft>
            </a:pPr>
            <a:r>
              <a:rPr sz="1300" b="1">
                <a:solidFill>
                  <a:srgbClr val="281913"/>
                </a:solidFill>
                <a:latin typeface="Arial"/>
              </a:rPr>
              <a:t>Interactive Prototype</a:t>
            </a:r>
          </a:p>
        </p:txBody>
      </p:sp>
      <p:sp>
        <p:nvSpPr>
          <p:cNvPr id="26" name="TextBox 25"/>
          <p:cNvSpPr txBox="1"/>
          <p:nvPr/>
        </p:nvSpPr>
        <p:spPr>
          <a:xfrm>
            <a:off x="2377440" y="5230368"/>
            <a:ext cx="1298448" cy="384048"/>
          </a:xfrm>
          <a:prstGeom prst="rect">
            <a:avLst/>
          </a:prstGeom>
          <a:noFill/>
        </p:spPr>
        <p:txBody>
          <a:bodyPr wrap="square" lIns="18288" rIns="18288" tIns="18288" bIns="18288" anchor="t">
            <a:spAutoFit/>
          </a:bodyPr>
          <a:lstStyle/>
          <a:p>
            <a:pPr algn="l">
              <a:lnSpc>
                <a:spcPct val="104000"/>
              </a:lnSpc>
              <a:spcAft>
                <a:spcPts val="0"/>
              </a:spcAft>
            </a:pPr>
            <a:r>
              <a:rPr sz="980" b="0">
                <a:solidFill>
                  <a:srgbClr val="6E635C"/>
                </a:solidFill>
                <a:latin typeface="Arial"/>
              </a:rPr>
              <a:t>mytakziah.vercel.app</a:t>
            </a:r>
          </a:p>
        </p:txBody>
      </p:sp>
      <p:sp>
        <p:nvSpPr>
          <p:cNvPr id="27" name="Rounded Rectangle 26"/>
          <p:cNvSpPr/>
          <p:nvPr/>
        </p:nvSpPr>
        <p:spPr>
          <a:xfrm>
            <a:off x="3822191" y="2313432"/>
            <a:ext cx="2788920" cy="3502152"/>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live-step2.png"/>
          <p:cNvPicPr>
            <a:picLocks noChangeAspect="1"/>
          </p:cNvPicPr>
          <p:nvPr/>
        </p:nvPicPr>
        <p:blipFill>
          <a:blip r:embed="rId4"/>
          <a:srcRect l="14000" t="30000" r="46000" b="2000"/>
          <a:stretch>
            <a:fillRect/>
          </a:stretch>
        </p:blipFill>
        <p:spPr>
          <a:xfrm>
            <a:off x="3822191" y="2313432"/>
            <a:ext cx="2788920" cy="3502152"/>
          </a:xfrm>
          <a:prstGeom prst="rect">
            <a:avLst/>
          </a:prstGeom>
        </p:spPr>
      </p:pic>
      <p:sp>
        <p:nvSpPr>
          <p:cNvPr id="29" name="Rounded Rectangle 28"/>
          <p:cNvSpPr/>
          <p:nvPr/>
        </p:nvSpPr>
        <p:spPr>
          <a:xfrm>
            <a:off x="6876288" y="2313432"/>
            <a:ext cx="4315968" cy="2011680"/>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screen-timeline.png"/>
          <p:cNvPicPr>
            <a:picLocks noChangeAspect="1"/>
          </p:cNvPicPr>
          <p:nvPr/>
        </p:nvPicPr>
        <p:blipFill>
          <a:blip r:embed="rId5"/>
          <a:srcRect t="2000" b="47000"/>
          <a:stretch>
            <a:fillRect/>
          </a:stretch>
        </p:blipFill>
        <p:spPr>
          <a:xfrm>
            <a:off x="6876288" y="2313432"/>
            <a:ext cx="4315968" cy="2011680"/>
          </a:xfrm>
          <a:prstGeom prst="rect">
            <a:avLst/>
          </a:prstGeom>
        </p:spPr>
      </p:pic>
      <p:sp>
        <p:nvSpPr>
          <p:cNvPr id="31" name="TextBox 30"/>
          <p:cNvSpPr txBox="1"/>
          <p:nvPr/>
        </p:nvSpPr>
        <p:spPr>
          <a:xfrm>
            <a:off x="6931152" y="4517136"/>
            <a:ext cx="4187952" cy="384048"/>
          </a:xfrm>
          <a:prstGeom prst="rect">
            <a:avLst/>
          </a:prstGeom>
          <a:noFill/>
        </p:spPr>
        <p:txBody>
          <a:bodyPr wrap="square" lIns="18288" rIns="18288" tIns="18288" bIns="18288" anchor="t">
            <a:spAutoFit/>
          </a:bodyPr>
          <a:lstStyle/>
          <a:p>
            <a:pPr algn="l">
              <a:lnSpc>
                <a:spcPct val="104000"/>
              </a:lnSpc>
              <a:spcAft>
                <a:spcPts val="0"/>
              </a:spcAft>
            </a:pPr>
            <a:r>
              <a:rPr sz="1150" b="1">
                <a:solidFill>
                  <a:srgbClr val="376D7C"/>
                </a:solidFill>
                <a:latin typeface="Arial"/>
              </a:rPr>
              <a:t>INTERACTIVE PROTOTYPE. AGENCY RESPONSES SIMULATED.</a:t>
            </a:r>
          </a:p>
        </p:txBody>
      </p:sp>
      <p:sp>
        <p:nvSpPr>
          <p:cNvPr id="32" name="TextBox 31"/>
          <p:cNvSpPr txBox="1"/>
          <p:nvPr/>
        </p:nvSpPr>
        <p:spPr>
          <a:xfrm>
            <a:off x="6931152" y="4937760"/>
            <a:ext cx="4160520" cy="420624"/>
          </a:xfrm>
          <a:prstGeom prst="rect">
            <a:avLst/>
          </a:prstGeom>
          <a:noFill/>
        </p:spPr>
        <p:txBody>
          <a:bodyPr wrap="square" lIns="18288" rIns="18288" tIns="18288" bIns="18288" anchor="t">
            <a:spAutoFit/>
          </a:bodyPr>
          <a:lstStyle/>
          <a:p>
            <a:pPr algn="l">
              <a:lnSpc>
                <a:spcPct val="104000"/>
              </a:lnSpc>
              <a:spcAft>
                <a:spcPts val="0"/>
              </a:spcAft>
            </a:pPr>
            <a:r>
              <a:rPr sz="1250" b="0">
                <a:solidFill>
                  <a:srgbClr val="6E635C"/>
                </a:solidFill>
                <a:latin typeface="Arial"/>
              </a:rPr>
              <a:t>Required originals, signatures and thumbprints remain where applicable.</a:t>
            </a:r>
          </a:p>
        </p:txBody>
      </p:sp>
      <p:sp>
        <p:nvSpPr>
          <p:cNvPr id="33" name="TextBox 32"/>
          <p:cNvSpPr txBox="1"/>
          <p:nvPr/>
        </p:nvSpPr>
        <p:spPr>
          <a:xfrm>
            <a:off x="685800" y="6245352"/>
            <a:ext cx="10561320" cy="201168"/>
          </a:xfrm>
          <a:prstGeom prst="rect">
            <a:avLst/>
          </a:prstGeom>
          <a:noFill/>
        </p:spPr>
        <p:txBody>
          <a:bodyPr wrap="square" lIns="18288" rIns="18288" tIns="18288" bIns="18288" anchor="t">
            <a:spAutoFit/>
          </a:bodyPr>
          <a:lstStyle/>
          <a:p>
            <a:pPr algn="l">
              <a:lnSpc>
                <a:spcPct val="104000"/>
              </a:lnSpc>
              <a:spcAft>
                <a:spcPts val="0"/>
              </a:spcAft>
            </a:pPr>
            <a:r>
              <a:rPr sz="900" b="0">
                <a:solidFill>
                  <a:srgbClr val="6E635C"/>
                </a:solidFill>
                <a:latin typeface="Arial"/>
              </a:rPr>
              <a:t>Sources: MyTakziah interactive prototype; reviewed JPN, KWSP and PERKESO forms in the repository research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785553" cy="307777"/>
          </a:xfrm>
          <a:prstGeom prst="rect">
            <a:avLst/>
          </a:prstGeom>
          <a:noFill/>
        </p:spPr>
        <p:txBody>
          <a:bodyPr wrap="none">
            <a:spAutoFit/>
          </a:bodyPr>
          <a:lstStyle/>
          <a:p>
            <a:pPr>
              <a:defRPr sz="1100" b="1">
                <a:solidFill>
                  <a:srgbClr val="1869AA"/>
                </a:solidFill>
                <a:latin typeface="Arial"/>
              </a:defRPr>
            </a:pPr>
            <a:r>
              <a:rPr sz="1400" dirty="0"/>
              <a:t>DIFFERENTIATION</a:t>
            </a:r>
          </a:p>
        </p:txBody>
      </p:sp>
      <p:sp>
        <p:nvSpPr>
          <p:cNvPr id="4" name="TextBox 3"/>
          <p:cNvSpPr txBox="1"/>
          <p:nvPr/>
        </p:nvSpPr>
        <p:spPr>
          <a:xfrm>
            <a:off x="685800" y="777240"/>
            <a:ext cx="10789920" cy="594360"/>
          </a:xfrm>
          <a:prstGeom prst="rect">
            <a:avLst/>
          </a:prstGeom>
          <a:noFill/>
        </p:spPr>
        <p:txBody>
          <a:bodyPr wrap="none">
            <a:spAutoFit/>
          </a:bodyPr>
          <a:lstStyle/>
          <a:p>
            <a:pPr>
              <a:defRPr sz="2700" b="1">
                <a:solidFill>
                  <a:srgbClr val="0C2138"/>
                </a:solidFill>
                <a:latin typeface="Arial"/>
              </a:defRPr>
            </a:pPr>
            <a:r>
              <a:t>4. What Makes It Innovative?</a:t>
            </a:r>
          </a:p>
        </p:txBody>
      </p:sp>
      <p:sp>
        <p:nvSpPr>
          <p:cNvPr id="11" name="Rectangle 10"/>
          <p:cNvSpPr/>
          <p:nvPr/>
        </p:nvSpPr>
        <p:spPr>
          <a:xfrm>
            <a:off x="685800" y="6446520"/>
            <a:ext cx="10817352" cy="274320"/>
          </a:xfrm>
          <a:prstGeom prst="rect">
            <a:avLst/>
          </a:prstGeom>
          <a:solidFill>
            <a:srgbClr val="DCE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6446520"/>
            <a:ext cx="9601200" cy="274320"/>
          </a:xfrm>
          <a:prstGeom prst="rect">
            <a:avLst/>
          </a:prstGeom>
          <a:noFill/>
        </p:spPr>
        <p:txBody>
          <a:bodyPr wrap="none">
            <a:spAutoFit/>
          </a:bodyPr>
          <a:lstStyle/>
          <a:p>
            <a:pPr>
              <a:defRPr sz="800">
                <a:solidFill>
                  <a:srgbClr val="646E78"/>
                </a:solidFill>
                <a:latin typeface="Arial"/>
              </a:defRPr>
            </a:pPr>
            <a:r>
              <a:t>URIIS Student Biz Innov Challenge 2026 | Final Pitch</a:t>
            </a:r>
          </a:p>
        </p:txBody>
      </p:sp>
      <p:sp>
        <p:nvSpPr>
          <p:cNvPr id="13" name="TextBox 12"/>
          <p:cNvSpPr txBox="1"/>
          <p:nvPr/>
        </p:nvSpPr>
        <p:spPr>
          <a:xfrm>
            <a:off x="11187625" y="6446520"/>
            <a:ext cx="242375" cy="274320"/>
          </a:xfrm>
          <a:prstGeom prst="rect">
            <a:avLst/>
          </a:prstGeom>
          <a:noFill/>
        </p:spPr>
        <p:txBody>
          <a:bodyPr wrap="none">
            <a:spAutoFit/>
          </a:bodyPr>
          <a:lstStyle/>
          <a:p>
            <a:pPr algn="r">
              <a:defRPr sz="800">
                <a:solidFill>
                  <a:srgbClr val="646E78"/>
                </a:solidFill>
                <a:latin typeface="Arial"/>
              </a:defRPr>
            </a:pPr>
            <a:r>
              <a:rPr lang="en-US" dirty="0"/>
              <a:t>4</a:t>
            </a:r>
            <a:endParaRPr dirty="0"/>
          </a:p>
        </p:txBody>
      </p:sp>
      <p:pic>
        <p:nvPicPr>
          <p:cNvPr id="14" name="Picture 13" descr="A logo for a university research and innovation summit&#10;&#10;Description automatically generated">
            <a:extLst>
              <a:ext uri="{FF2B5EF4-FFF2-40B4-BE49-F238E27FC236}">
                <a16:creationId xmlns:a16="http://schemas.microsoft.com/office/drawing/2014/main" id="{03C5B861-186E-EDEC-02AB-D6595F1A4567}"/>
              </a:ext>
            </a:extLst>
          </p:cNvPr>
          <p:cNvPicPr>
            <a:picLocks noChangeAspect="1"/>
          </p:cNvPicPr>
          <p:nvPr/>
        </p:nvPicPr>
        <p:blipFill>
          <a:blip r:embed="rId2"/>
          <a:stretch>
            <a:fillRect/>
          </a:stretch>
        </p:blipFill>
        <p:spPr>
          <a:xfrm>
            <a:off x="11341303" y="0"/>
            <a:ext cx="850392" cy="850392"/>
          </a:xfrm>
          <a:prstGeom prst="rect">
            <a:avLst/>
          </a:prstGeom>
        </p:spPr>
      </p:pic>
      <p:sp>
        <p:nvSpPr>
          <p:cNvPr id="15" name="TextBox 14"/>
          <p:cNvSpPr txBox="1"/>
          <p:nvPr/>
        </p:nvSpPr>
        <p:spPr>
          <a:xfrm>
            <a:off x="713232" y="1536192"/>
            <a:ext cx="10241280" cy="493776"/>
          </a:xfrm>
          <a:prstGeom prst="rect">
            <a:avLst/>
          </a:prstGeom>
          <a:noFill/>
        </p:spPr>
        <p:txBody>
          <a:bodyPr wrap="square" lIns="18288" rIns="18288" tIns="18288" bIns="18288" anchor="t">
            <a:spAutoFit/>
          </a:bodyPr>
          <a:lstStyle/>
          <a:p>
            <a:pPr algn="l">
              <a:lnSpc>
                <a:spcPct val="104000"/>
              </a:lnSpc>
              <a:spcAft>
                <a:spcPts val="0"/>
              </a:spcAft>
            </a:pPr>
            <a:r>
              <a:rPr sz="2800" b="1">
                <a:solidFill>
                  <a:srgbClr val="281913"/>
                </a:solidFill>
                <a:latin typeface="Arial"/>
              </a:rPr>
              <a:t>Share the Common Evidence. Respect Every Agency Rule.</a:t>
            </a:r>
          </a:p>
        </p:txBody>
      </p:sp>
      <p:sp>
        <p:nvSpPr>
          <p:cNvPr id="16" name="TextBox 15"/>
          <p:cNvSpPr txBox="1"/>
          <p:nvPr/>
        </p:nvSpPr>
        <p:spPr>
          <a:xfrm>
            <a:off x="713232" y="2103120"/>
            <a:ext cx="9601200" cy="365760"/>
          </a:xfrm>
          <a:prstGeom prst="rect">
            <a:avLst/>
          </a:prstGeom>
          <a:noFill/>
        </p:spPr>
        <p:txBody>
          <a:bodyPr wrap="square" lIns="18288" rIns="18288" tIns="18288" bIns="18288" anchor="t">
            <a:spAutoFit/>
          </a:bodyPr>
          <a:lstStyle/>
          <a:p>
            <a:pPr algn="l">
              <a:lnSpc>
                <a:spcPct val="104000"/>
              </a:lnSpc>
              <a:spcAft>
                <a:spcPts val="0"/>
              </a:spcAft>
            </a:pPr>
            <a:r>
              <a:rPr sz="1400" b="0">
                <a:solidFill>
                  <a:srgbClr val="6E635C"/>
                </a:solidFill>
                <a:latin typeface="Arial"/>
              </a:rPr>
              <a:t>The workflow reuses what is common, then asks only for what each route still needs.</a:t>
            </a:r>
          </a:p>
        </p:txBody>
      </p:sp>
      <p:sp>
        <p:nvSpPr>
          <p:cNvPr id="17" name="Rounded Rectangle 16"/>
          <p:cNvSpPr/>
          <p:nvPr/>
        </p:nvSpPr>
        <p:spPr>
          <a:xfrm>
            <a:off x="713232" y="2651760"/>
            <a:ext cx="10469880" cy="841248"/>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2898648"/>
            <a:ext cx="1508760" cy="274320"/>
          </a:xfrm>
          <a:prstGeom prst="rect">
            <a:avLst/>
          </a:prstGeom>
          <a:noFill/>
        </p:spPr>
        <p:txBody>
          <a:bodyPr wrap="square" lIns="18288" rIns="18288" tIns="18288" bIns="18288" anchor="t">
            <a:spAutoFit/>
          </a:bodyPr>
          <a:lstStyle/>
          <a:p>
            <a:pPr algn="l">
              <a:lnSpc>
                <a:spcPct val="104000"/>
              </a:lnSpc>
              <a:spcAft>
                <a:spcPts val="0"/>
              </a:spcAft>
            </a:pPr>
            <a:r>
              <a:rPr sz="1700" b="1">
                <a:solidFill>
                  <a:srgbClr val="BC4D1A"/>
                </a:solidFill>
                <a:latin typeface="Arial"/>
              </a:rPr>
              <a:t>Shared Once</a:t>
            </a:r>
          </a:p>
        </p:txBody>
      </p:sp>
      <p:cxnSp>
        <p:nvCxnSpPr>
          <p:cNvPr id="19" name="Connector 18"/>
          <p:cNvCxnSpPr/>
          <p:nvPr/>
        </p:nvCxnSpPr>
        <p:spPr>
          <a:xfrm>
            <a:off x="2578608" y="2834640"/>
            <a:ext cx="9143" cy="0"/>
          </a:xfrm>
          <a:prstGeom prst="line">
            <a:avLst/>
          </a:prstGeom>
          <a:ln w="279400">
            <a:solidFill>
              <a:srgbClr val="E2DBD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743200" y="2898648"/>
            <a:ext cx="2423160" cy="274320"/>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Deceased Identity</a:t>
            </a:r>
          </a:p>
        </p:txBody>
      </p:sp>
      <p:cxnSp>
        <p:nvCxnSpPr>
          <p:cNvPr id="21" name="Connector 20"/>
          <p:cNvCxnSpPr/>
          <p:nvPr/>
        </p:nvCxnSpPr>
        <p:spPr>
          <a:xfrm>
            <a:off x="5367528" y="2834640"/>
            <a:ext cx="9144" cy="0"/>
          </a:xfrm>
          <a:prstGeom prst="line">
            <a:avLst/>
          </a:prstGeom>
          <a:ln w="279400">
            <a:solidFill>
              <a:srgbClr val="E2DBD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5532120" y="2898648"/>
            <a:ext cx="2423160" cy="274320"/>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Applicant Identity</a:t>
            </a:r>
          </a:p>
        </p:txBody>
      </p:sp>
      <p:cxnSp>
        <p:nvCxnSpPr>
          <p:cNvPr id="23" name="Connector 22"/>
          <p:cNvCxnSpPr/>
          <p:nvPr/>
        </p:nvCxnSpPr>
        <p:spPr>
          <a:xfrm>
            <a:off x="8156448" y="2834640"/>
            <a:ext cx="9144" cy="0"/>
          </a:xfrm>
          <a:prstGeom prst="line">
            <a:avLst/>
          </a:prstGeom>
          <a:ln w="279400">
            <a:solidFill>
              <a:srgbClr val="E2DBD4"/>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321040" y="2898648"/>
            <a:ext cx="2423160" cy="274320"/>
          </a:xfrm>
          <a:prstGeom prst="rect">
            <a:avLst/>
          </a:prstGeom>
          <a:noFill/>
        </p:spPr>
        <p:txBody>
          <a:bodyPr wrap="square" lIns="18288" rIns="18288" tIns="18288" bIns="18288" anchor="t">
            <a:spAutoFit/>
          </a:bodyPr>
          <a:lstStyle/>
          <a:p>
            <a:pPr algn="l">
              <a:lnSpc>
                <a:spcPct val="104000"/>
              </a:lnSpc>
              <a:spcAft>
                <a:spcPts val="0"/>
              </a:spcAft>
            </a:pPr>
            <a:r>
              <a:rPr sz="1400" b="1">
                <a:solidFill>
                  <a:srgbClr val="281913"/>
                </a:solidFill>
                <a:latin typeface="Arial"/>
              </a:rPr>
              <a:t>Proof of Death</a:t>
            </a:r>
          </a:p>
        </p:txBody>
      </p:sp>
      <p:cxnSp>
        <p:nvCxnSpPr>
          <p:cNvPr id="25" name="Connector 24"/>
          <p:cNvCxnSpPr/>
          <p:nvPr/>
        </p:nvCxnSpPr>
        <p:spPr>
          <a:xfrm>
            <a:off x="713232" y="3913632"/>
            <a:ext cx="3063240" cy="0"/>
          </a:xfrm>
          <a:prstGeom prst="line">
            <a:avLst/>
          </a:prstGeom>
          <a:ln w="38100">
            <a:solidFill>
              <a:srgbClr val="376D7C"/>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4123944"/>
            <a:ext cx="2971800" cy="320040"/>
          </a:xfrm>
          <a:prstGeom prst="rect">
            <a:avLst/>
          </a:prstGeom>
          <a:noFill/>
        </p:spPr>
        <p:txBody>
          <a:bodyPr wrap="square" lIns="18288" rIns="18288" tIns="18288" bIns="18288" anchor="t">
            <a:spAutoFit/>
          </a:bodyPr>
          <a:lstStyle/>
          <a:p>
            <a:pPr algn="l">
              <a:lnSpc>
                <a:spcPct val="104000"/>
              </a:lnSpc>
              <a:spcAft>
                <a:spcPts val="0"/>
              </a:spcAft>
            </a:pPr>
            <a:r>
              <a:rPr sz="1800" b="1">
                <a:solidFill>
                  <a:srgbClr val="376D7C"/>
                </a:solidFill>
                <a:latin typeface="Arial"/>
              </a:rPr>
              <a:t>JPN</a:t>
            </a:r>
          </a:p>
        </p:txBody>
      </p:sp>
      <p:sp>
        <p:nvSpPr>
          <p:cNvPr id="27" name="TextBox 26"/>
          <p:cNvSpPr txBox="1"/>
          <p:nvPr/>
        </p:nvSpPr>
        <p:spPr>
          <a:xfrm>
            <a:off x="731520" y="4535424"/>
            <a:ext cx="2944368" cy="658368"/>
          </a:xfrm>
          <a:prstGeom prst="rect">
            <a:avLst/>
          </a:prstGeom>
          <a:noFill/>
        </p:spPr>
        <p:txBody>
          <a:bodyPr wrap="square" lIns="18288" rIns="18288" tIns="18288" bIns="18288" anchor="t">
            <a:spAutoFit/>
          </a:bodyPr>
          <a:lstStyle/>
          <a:p>
            <a:pPr algn="l">
              <a:lnSpc>
                <a:spcPct val="104000"/>
              </a:lnSpc>
              <a:spcAft>
                <a:spcPts val="0"/>
              </a:spcAft>
            </a:pPr>
            <a:r>
              <a:rPr sz="1350" b="0">
                <a:solidFill>
                  <a:srgbClr val="6E635C"/>
                </a:solidFill>
                <a:latin typeface="Arial"/>
              </a:rPr>
              <a:t>Registration route, informant details and required originals.</a:t>
            </a:r>
          </a:p>
        </p:txBody>
      </p:sp>
      <p:cxnSp>
        <p:nvCxnSpPr>
          <p:cNvPr id="28" name="Connector 27"/>
          <p:cNvCxnSpPr/>
          <p:nvPr/>
        </p:nvCxnSpPr>
        <p:spPr>
          <a:xfrm>
            <a:off x="4224528" y="3913632"/>
            <a:ext cx="3063240" cy="0"/>
          </a:xfrm>
          <a:prstGeom prst="line">
            <a:avLst/>
          </a:prstGeom>
          <a:ln w="38100">
            <a:solidFill>
              <a:srgbClr val="376D7C"/>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242816" y="4123944"/>
            <a:ext cx="2971800" cy="320040"/>
          </a:xfrm>
          <a:prstGeom prst="rect">
            <a:avLst/>
          </a:prstGeom>
          <a:noFill/>
        </p:spPr>
        <p:txBody>
          <a:bodyPr wrap="square" lIns="18288" rIns="18288" tIns="18288" bIns="18288" anchor="t">
            <a:spAutoFit/>
          </a:bodyPr>
          <a:lstStyle/>
          <a:p>
            <a:pPr algn="l">
              <a:lnSpc>
                <a:spcPct val="104000"/>
              </a:lnSpc>
              <a:spcAft>
                <a:spcPts val="0"/>
              </a:spcAft>
            </a:pPr>
            <a:r>
              <a:rPr sz="1800" b="1">
                <a:solidFill>
                  <a:srgbClr val="376D7C"/>
                </a:solidFill>
                <a:latin typeface="Arial"/>
              </a:rPr>
              <a:t>KWSP</a:t>
            </a:r>
          </a:p>
        </p:txBody>
      </p:sp>
      <p:sp>
        <p:nvSpPr>
          <p:cNvPr id="30" name="TextBox 29"/>
          <p:cNvSpPr txBox="1"/>
          <p:nvPr/>
        </p:nvSpPr>
        <p:spPr>
          <a:xfrm>
            <a:off x="4242816" y="4535424"/>
            <a:ext cx="2944368" cy="658368"/>
          </a:xfrm>
          <a:prstGeom prst="rect">
            <a:avLst/>
          </a:prstGeom>
          <a:noFill/>
        </p:spPr>
        <p:txBody>
          <a:bodyPr wrap="square" lIns="18288" rIns="18288" tIns="18288" bIns="18288" anchor="t">
            <a:spAutoFit/>
          </a:bodyPr>
          <a:lstStyle/>
          <a:p>
            <a:pPr algn="l">
              <a:lnSpc>
                <a:spcPct val="104000"/>
              </a:lnSpc>
              <a:spcAft>
                <a:spcPts val="0"/>
              </a:spcAft>
            </a:pPr>
            <a:r>
              <a:rPr sz="1350" b="0">
                <a:solidFill>
                  <a:srgbClr val="6E635C"/>
                </a:solidFill>
                <a:latin typeface="Arial"/>
              </a:rPr>
              <a:t>Relationship evidence and payment details when the route requires them.</a:t>
            </a:r>
          </a:p>
        </p:txBody>
      </p:sp>
      <p:cxnSp>
        <p:nvCxnSpPr>
          <p:cNvPr id="31" name="Connector 30"/>
          <p:cNvCxnSpPr/>
          <p:nvPr/>
        </p:nvCxnSpPr>
        <p:spPr>
          <a:xfrm>
            <a:off x="7735824" y="3913632"/>
            <a:ext cx="3063240" cy="0"/>
          </a:xfrm>
          <a:prstGeom prst="line">
            <a:avLst/>
          </a:prstGeom>
          <a:ln w="38100">
            <a:solidFill>
              <a:srgbClr val="376D7C"/>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754112" y="4123944"/>
            <a:ext cx="2971800" cy="320040"/>
          </a:xfrm>
          <a:prstGeom prst="rect">
            <a:avLst/>
          </a:prstGeom>
          <a:noFill/>
        </p:spPr>
        <p:txBody>
          <a:bodyPr wrap="square" lIns="18288" rIns="18288" tIns="18288" bIns="18288" anchor="t">
            <a:spAutoFit/>
          </a:bodyPr>
          <a:lstStyle/>
          <a:p>
            <a:pPr algn="l">
              <a:lnSpc>
                <a:spcPct val="104000"/>
              </a:lnSpc>
              <a:spcAft>
                <a:spcPts val="0"/>
              </a:spcAft>
            </a:pPr>
            <a:r>
              <a:rPr sz="1800" b="1">
                <a:solidFill>
                  <a:srgbClr val="376D7C"/>
                </a:solidFill>
                <a:latin typeface="Arial"/>
              </a:rPr>
              <a:t>PERKESO</a:t>
            </a:r>
          </a:p>
        </p:txBody>
      </p:sp>
      <p:sp>
        <p:nvSpPr>
          <p:cNvPr id="33" name="TextBox 32"/>
          <p:cNvSpPr txBox="1"/>
          <p:nvPr/>
        </p:nvSpPr>
        <p:spPr>
          <a:xfrm>
            <a:off x="7754112" y="4535424"/>
            <a:ext cx="2944368" cy="658368"/>
          </a:xfrm>
          <a:prstGeom prst="rect">
            <a:avLst/>
          </a:prstGeom>
          <a:noFill/>
        </p:spPr>
        <p:txBody>
          <a:bodyPr wrap="square" lIns="18288" rIns="18288" tIns="18288" bIns="18288" anchor="t">
            <a:spAutoFit/>
          </a:bodyPr>
          <a:lstStyle/>
          <a:p>
            <a:pPr algn="l">
              <a:lnSpc>
                <a:spcPct val="104000"/>
              </a:lnSpc>
              <a:spcAft>
                <a:spcPts val="0"/>
              </a:spcAft>
            </a:pPr>
            <a:r>
              <a:rPr sz="1350" b="0">
                <a:solidFill>
                  <a:srgbClr val="6E635C"/>
                </a:solidFill>
                <a:latin typeface="Arial"/>
              </a:rPr>
              <a:t>Relationship evidence and payment details where applicable.</a:t>
            </a:r>
          </a:p>
        </p:txBody>
      </p:sp>
      <p:cxnSp>
        <p:nvCxnSpPr>
          <p:cNvPr id="34" name="Connector 33"/>
          <p:cNvCxnSpPr/>
          <p:nvPr/>
        </p:nvCxnSpPr>
        <p:spPr>
          <a:xfrm>
            <a:off x="713232" y="5468112"/>
            <a:ext cx="10469879"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13232" y="5596128"/>
            <a:ext cx="10378440" cy="310896"/>
          </a:xfrm>
          <a:prstGeom prst="rect">
            <a:avLst/>
          </a:prstGeom>
          <a:noFill/>
        </p:spPr>
        <p:txBody>
          <a:bodyPr wrap="square" lIns="18288" rIns="18288" tIns="18288" bIns="18288" anchor="t">
            <a:spAutoFit/>
          </a:bodyPr>
          <a:lstStyle/>
          <a:p>
            <a:pPr algn="l">
              <a:lnSpc>
                <a:spcPct val="104000"/>
              </a:lnSpc>
              <a:spcAft>
                <a:spcPts val="0"/>
              </a:spcAft>
            </a:pPr>
            <a:r>
              <a:rPr sz="1500" b="1">
                <a:solidFill>
                  <a:srgbClr val="281913"/>
                </a:solidFill>
                <a:latin typeface="Arial"/>
              </a:rPr>
              <a:t>AI extracts and explains. Human-maintained rules constrain. Agencies decide.</a:t>
            </a:r>
          </a:p>
        </p:txBody>
      </p:sp>
      <p:sp>
        <p:nvSpPr>
          <p:cNvPr id="36" name="TextBox 35"/>
          <p:cNvSpPr txBox="1"/>
          <p:nvPr/>
        </p:nvSpPr>
        <p:spPr>
          <a:xfrm>
            <a:off x="685800" y="6245352"/>
            <a:ext cx="10561320" cy="201168"/>
          </a:xfrm>
          <a:prstGeom prst="rect">
            <a:avLst/>
          </a:prstGeom>
          <a:noFill/>
        </p:spPr>
        <p:txBody>
          <a:bodyPr wrap="square" lIns="18288" rIns="18288" tIns="18288" bIns="18288" anchor="t">
            <a:spAutoFit/>
          </a:bodyPr>
          <a:lstStyle/>
          <a:p>
            <a:pPr algn="l">
              <a:lnSpc>
                <a:spcPct val="104000"/>
              </a:lnSpc>
              <a:spcAft>
                <a:spcPts val="0"/>
              </a:spcAft>
            </a:pPr>
            <a:r>
              <a:rPr sz="900" b="0">
                <a:solidFill>
                  <a:srgbClr val="6E635C"/>
                </a:solidFill>
                <a:latin typeface="Arial"/>
              </a:rPr>
              <a:t>Sources: JPN, Ordinary Registration of Death; KWSP 9KM (AHL), V20260701; PERKESO Borang 34 and benefit checklists.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2758576" cy="307777"/>
          </a:xfrm>
          <a:prstGeom prst="rect">
            <a:avLst/>
          </a:prstGeom>
          <a:noFill/>
        </p:spPr>
        <p:txBody>
          <a:bodyPr wrap="none">
            <a:spAutoFit/>
          </a:bodyPr>
          <a:lstStyle/>
          <a:p>
            <a:pPr>
              <a:defRPr sz="1100" b="1">
                <a:solidFill>
                  <a:srgbClr val="1869AA"/>
                </a:solidFill>
                <a:latin typeface="Arial"/>
              </a:defRPr>
            </a:pPr>
            <a:r>
              <a:rPr sz="1400" dirty="0"/>
              <a:t>CAN THIS REALLY BE DONE?</a:t>
            </a:r>
          </a:p>
        </p:txBody>
      </p:sp>
      <p:sp>
        <p:nvSpPr>
          <p:cNvPr id="4" name="TextBox 3"/>
          <p:cNvSpPr txBox="1"/>
          <p:nvPr/>
        </p:nvSpPr>
        <p:spPr>
          <a:xfrm>
            <a:off x="685800" y="777240"/>
            <a:ext cx="10789920" cy="594360"/>
          </a:xfrm>
          <a:prstGeom prst="rect">
            <a:avLst/>
          </a:prstGeom>
          <a:noFill/>
        </p:spPr>
        <p:txBody>
          <a:bodyPr wrap="none">
            <a:spAutoFit/>
          </a:bodyPr>
          <a:lstStyle/>
          <a:p>
            <a:pPr>
              <a:defRPr sz="2700" b="1">
                <a:solidFill>
                  <a:srgbClr val="0C2138"/>
                </a:solidFill>
                <a:latin typeface="Arial"/>
              </a:defRPr>
            </a:pPr>
            <a:r>
              <a:t>5. How It Works &amp; Feasibility</a:t>
            </a:r>
          </a:p>
        </p:txBody>
      </p:sp>
      <p:sp>
        <p:nvSpPr>
          <p:cNvPr id="11" name="Rectangle 10"/>
          <p:cNvSpPr/>
          <p:nvPr/>
        </p:nvSpPr>
        <p:spPr>
          <a:xfrm>
            <a:off x="685800" y="6446520"/>
            <a:ext cx="10817352" cy="274320"/>
          </a:xfrm>
          <a:prstGeom prst="rect">
            <a:avLst/>
          </a:prstGeom>
          <a:solidFill>
            <a:srgbClr val="DCE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6446520"/>
            <a:ext cx="9601200" cy="274320"/>
          </a:xfrm>
          <a:prstGeom prst="rect">
            <a:avLst/>
          </a:prstGeom>
          <a:noFill/>
        </p:spPr>
        <p:txBody>
          <a:bodyPr wrap="none">
            <a:spAutoFit/>
          </a:bodyPr>
          <a:lstStyle/>
          <a:p>
            <a:pPr>
              <a:defRPr sz="800">
                <a:solidFill>
                  <a:srgbClr val="646E78"/>
                </a:solidFill>
                <a:latin typeface="Arial"/>
              </a:defRPr>
            </a:pPr>
            <a:r>
              <a:t>URIIS Student Biz Innov Challenge 2026 | Final Pitch</a:t>
            </a:r>
          </a:p>
        </p:txBody>
      </p:sp>
      <p:sp>
        <p:nvSpPr>
          <p:cNvPr id="13" name="TextBox 12"/>
          <p:cNvSpPr txBox="1"/>
          <p:nvPr/>
        </p:nvSpPr>
        <p:spPr>
          <a:xfrm>
            <a:off x="11187625" y="6446520"/>
            <a:ext cx="242375" cy="274320"/>
          </a:xfrm>
          <a:prstGeom prst="rect">
            <a:avLst/>
          </a:prstGeom>
          <a:noFill/>
        </p:spPr>
        <p:txBody>
          <a:bodyPr wrap="none">
            <a:spAutoFit/>
          </a:bodyPr>
          <a:lstStyle/>
          <a:p>
            <a:pPr algn="r">
              <a:defRPr sz="800">
                <a:solidFill>
                  <a:srgbClr val="646E78"/>
                </a:solidFill>
                <a:latin typeface="Arial"/>
              </a:defRPr>
            </a:pPr>
            <a:r>
              <a:rPr lang="en-US" dirty="0"/>
              <a:t>5</a:t>
            </a:r>
            <a:endParaRPr dirty="0"/>
          </a:p>
        </p:txBody>
      </p:sp>
      <p:pic>
        <p:nvPicPr>
          <p:cNvPr id="14" name="Picture 13" descr="A logo for a university research and innovation summit&#10;&#10;Description automatically generated">
            <a:extLst>
              <a:ext uri="{FF2B5EF4-FFF2-40B4-BE49-F238E27FC236}">
                <a16:creationId xmlns:a16="http://schemas.microsoft.com/office/drawing/2014/main" id="{807EE01E-77A0-E151-9A05-5AC094B7C152}"/>
              </a:ext>
            </a:extLst>
          </p:cNvPr>
          <p:cNvPicPr>
            <a:picLocks noChangeAspect="1"/>
          </p:cNvPicPr>
          <p:nvPr/>
        </p:nvPicPr>
        <p:blipFill>
          <a:blip r:embed="rId2"/>
          <a:stretch>
            <a:fillRect/>
          </a:stretch>
        </p:blipFill>
        <p:spPr>
          <a:xfrm>
            <a:off x="11341303" y="0"/>
            <a:ext cx="850392" cy="850392"/>
          </a:xfrm>
          <a:prstGeom prst="rect">
            <a:avLst/>
          </a:prstGeom>
        </p:spPr>
      </p:pic>
      <p:sp>
        <p:nvSpPr>
          <p:cNvPr id="15" name="TextBox 14"/>
          <p:cNvSpPr txBox="1"/>
          <p:nvPr/>
        </p:nvSpPr>
        <p:spPr>
          <a:xfrm>
            <a:off x="713232" y="1536192"/>
            <a:ext cx="10332720" cy="493776"/>
          </a:xfrm>
          <a:prstGeom prst="rect">
            <a:avLst/>
          </a:prstGeom>
          <a:noFill/>
        </p:spPr>
        <p:txBody>
          <a:bodyPr wrap="square" lIns="18288" rIns="18288" tIns="18288" bIns="18288" anchor="t">
            <a:spAutoFit/>
          </a:bodyPr>
          <a:lstStyle/>
          <a:p>
            <a:pPr algn="l">
              <a:lnSpc>
                <a:spcPct val="104000"/>
              </a:lnSpc>
              <a:spcAft>
                <a:spcPts val="0"/>
              </a:spcAft>
            </a:pPr>
            <a:r>
              <a:rPr sz="2900" b="1">
                <a:solidFill>
                  <a:srgbClr val="281913"/>
                </a:solidFill>
                <a:latin typeface="Arial"/>
              </a:rPr>
              <a:t>Test Preparation Before Government Integration</a:t>
            </a:r>
          </a:p>
        </p:txBody>
      </p:sp>
      <p:sp>
        <p:nvSpPr>
          <p:cNvPr id="16" name="TextBox 15"/>
          <p:cNvSpPr txBox="1"/>
          <p:nvPr/>
        </p:nvSpPr>
        <p:spPr>
          <a:xfrm>
            <a:off x="713232" y="2103120"/>
            <a:ext cx="9509760" cy="347472"/>
          </a:xfrm>
          <a:prstGeom prst="rect">
            <a:avLst/>
          </a:prstGeom>
          <a:noFill/>
        </p:spPr>
        <p:txBody>
          <a:bodyPr wrap="square" lIns="18288" rIns="18288" tIns="18288" bIns="18288" anchor="t">
            <a:spAutoFit/>
          </a:bodyPr>
          <a:lstStyle/>
          <a:p>
            <a:pPr algn="l">
              <a:lnSpc>
                <a:spcPct val="104000"/>
              </a:lnSpc>
              <a:spcAft>
                <a:spcPts val="0"/>
              </a:spcAft>
            </a:pPr>
            <a:r>
              <a:rPr sz="1350" b="0">
                <a:solidFill>
                  <a:srgbClr val="6E635C"/>
                </a:solidFill>
                <a:latin typeface="Arial"/>
              </a:rPr>
              <a:t>A bounded path tests usefulness and safety before any promise of automated submission.</a:t>
            </a:r>
          </a:p>
        </p:txBody>
      </p:sp>
      <p:cxnSp>
        <p:nvCxnSpPr>
          <p:cNvPr id="17" name="Connector 16"/>
          <p:cNvCxnSpPr/>
          <p:nvPr/>
        </p:nvCxnSpPr>
        <p:spPr>
          <a:xfrm>
            <a:off x="1417320" y="2807208"/>
            <a:ext cx="8732520" cy="0"/>
          </a:xfrm>
          <a:prstGeom prst="line">
            <a:avLst/>
          </a:prstGeom>
          <a:ln w="19050">
            <a:solidFill>
              <a:srgbClr val="E2DBD4"/>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987552" y="2624328"/>
            <a:ext cx="347472" cy="347472"/>
          </a:xfrm>
          <a:prstGeom prst="ellipse">
            <a:avLst/>
          </a:prstGeom>
          <a:solidFill>
            <a:srgbClr val="FFFFFF"/>
          </a:solidFill>
          <a:ln w="50800">
            <a:solidFill>
              <a:srgbClr val="376D7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3136392"/>
            <a:ext cx="3017520" cy="594360"/>
          </a:xfrm>
          <a:prstGeom prst="rect">
            <a:avLst/>
          </a:prstGeom>
          <a:noFill/>
        </p:spPr>
        <p:txBody>
          <a:bodyPr wrap="square" lIns="18288" rIns="18288" tIns="18288" bIns="18288" anchor="t">
            <a:spAutoFit/>
          </a:bodyPr>
          <a:lstStyle/>
          <a:p>
            <a:pPr algn="l">
              <a:lnSpc>
                <a:spcPct val="104000"/>
              </a:lnSpc>
              <a:spcAft>
                <a:spcPts val="0"/>
              </a:spcAft>
            </a:pPr>
            <a:r>
              <a:rPr sz="1900" b="1">
                <a:solidFill>
                  <a:srgbClr val="281913"/>
                </a:solidFill>
                <a:latin typeface="Arial"/>
              </a:rPr>
              <a:t>Evidence Today</a:t>
            </a:r>
          </a:p>
        </p:txBody>
      </p:sp>
      <p:sp>
        <p:nvSpPr>
          <p:cNvPr id="20" name="TextBox 19"/>
          <p:cNvSpPr txBox="1"/>
          <p:nvPr/>
        </p:nvSpPr>
        <p:spPr>
          <a:xfrm>
            <a:off x="713232" y="3803904"/>
            <a:ext cx="2907792" cy="786384"/>
          </a:xfrm>
          <a:prstGeom prst="rect">
            <a:avLst/>
          </a:prstGeom>
          <a:noFill/>
        </p:spPr>
        <p:txBody>
          <a:bodyPr wrap="square" lIns="18288" rIns="18288" tIns="18288" bIns="18288" anchor="t">
            <a:spAutoFit/>
          </a:bodyPr>
          <a:lstStyle/>
          <a:p>
            <a:pPr algn="l">
              <a:lnSpc>
                <a:spcPct val="104000"/>
              </a:lnSpc>
              <a:spcAft>
                <a:spcPts val="0"/>
              </a:spcAft>
            </a:pPr>
            <a:r>
              <a:rPr sz="1350" b="0">
                <a:solidFill>
                  <a:srgbClr val="6E635C"/>
                </a:solidFill>
                <a:latin typeface="Arial"/>
              </a:rPr>
              <a:t>Interactive prototype and documented agency-form research.</a:t>
            </a:r>
          </a:p>
        </p:txBody>
      </p:sp>
      <p:sp>
        <p:nvSpPr>
          <p:cNvPr id="21" name="Rounded Rectangle 20"/>
          <p:cNvSpPr/>
          <p:nvPr/>
        </p:nvSpPr>
        <p:spPr>
          <a:xfrm>
            <a:off x="713232" y="4709160"/>
            <a:ext cx="2971800" cy="960120"/>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77824" y="4901184"/>
            <a:ext cx="2633472" cy="566928"/>
          </a:xfrm>
          <a:prstGeom prst="rect">
            <a:avLst/>
          </a:prstGeom>
          <a:noFill/>
        </p:spPr>
        <p:txBody>
          <a:bodyPr wrap="square" lIns="18288" rIns="18288" tIns="18288" bIns="18288" anchor="t">
            <a:spAutoFit/>
          </a:bodyPr>
          <a:lstStyle/>
          <a:p>
            <a:pPr algn="l">
              <a:lnSpc>
                <a:spcPct val="104000"/>
              </a:lnSpc>
              <a:spcAft>
                <a:spcPts val="0"/>
              </a:spcAft>
            </a:pPr>
            <a:r>
              <a:rPr sz="1300" b="1">
                <a:solidFill>
                  <a:srgbClr val="281913"/>
                </a:solidFill>
                <a:latin typeface="Arial"/>
              </a:rPr>
              <a:t>Reality: no completed interviews, host or agency integration.</a:t>
            </a:r>
          </a:p>
        </p:txBody>
      </p:sp>
      <p:sp>
        <p:nvSpPr>
          <p:cNvPr id="23" name="Oval 22"/>
          <p:cNvSpPr/>
          <p:nvPr/>
        </p:nvSpPr>
        <p:spPr>
          <a:xfrm>
            <a:off x="4370832" y="2624328"/>
            <a:ext cx="347472" cy="347472"/>
          </a:xfrm>
          <a:prstGeom prst="ellipse">
            <a:avLst/>
          </a:prstGeom>
          <a:solidFill>
            <a:srgbClr val="FFFFFF"/>
          </a:solidFill>
          <a:ln w="50800">
            <a:solidFill>
              <a:srgbClr val="BC4D1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96512" y="3136392"/>
            <a:ext cx="3017520" cy="594360"/>
          </a:xfrm>
          <a:prstGeom prst="rect">
            <a:avLst/>
          </a:prstGeom>
          <a:noFill/>
        </p:spPr>
        <p:txBody>
          <a:bodyPr wrap="square" lIns="18288" rIns="18288" tIns="18288" bIns="18288" anchor="t">
            <a:spAutoFit/>
          </a:bodyPr>
          <a:lstStyle/>
          <a:p>
            <a:pPr algn="l">
              <a:lnSpc>
                <a:spcPct val="104000"/>
              </a:lnSpc>
              <a:spcAft>
                <a:spcPts val="0"/>
              </a:spcAft>
            </a:pPr>
            <a:r>
              <a:rPr sz="1900" b="1">
                <a:solidFill>
                  <a:srgbClr val="281913"/>
                </a:solidFill>
                <a:latin typeface="Arial"/>
              </a:rPr>
              <a:t>Supervised Preparation Pilot</a:t>
            </a:r>
          </a:p>
        </p:txBody>
      </p:sp>
      <p:sp>
        <p:nvSpPr>
          <p:cNvPr id="25" name="TextBox 24"/>
          <p:cNvSpPr txBox="1"/>
          <p:nvPr/>
        </p:nvSpPr>
        <p:spPr>
          <a:xfrm>
            <a:off x="4096512" y="3803904"/>
            <a:ext cx="2907792" cy="786384"/>
          </a:xfrm>
          <a:prstGeom prst="rect">
            <a:avLst/>
          </a:prstGeom>
          <a:noFill/>
        </p:spPr>
        <p:txBody>
          <a:bodyPr wrap="square" lIns="18288" rIns="18288" tIns="18288" bIns="18288" anchor="t">
            <a:spAutoFit/>
          </a:bodyPr>
          <a:lstStyle/>
          <a:p>
            <a:pPr algn="l">
              <a:lnSpc>
                <a:spcPct val="104000"/>
              </a:lnSpc>
              <a:spcAft>
                <a:spcPts val="0"/>
              </a:spcAft>
            </a:pPr>
            <a:r>
              <a:rPr sz="1350" b="0">
                <a:solidFill>
                  <a:srgbClr val="6E635C"/>
                </a:solidFill>
                <a:latin typeface="Arial"/>
              </a:rPr>
              <a:t>[ASSUMPTION] Test one PJ community, reviewed drafts and official channels.</a:t>
            </a:r>
          </a:p>
        </p:txBody>
      </p:sp>
      <p:sp>
        <p:nvSpPr>
          <p:cNvPr id="26" name="Rounded Rectangle 25"/>
          <p:cNvSpPr/>
          <p:nvPr/>
        </p:nvSpPr>
        <p:spPr>
          <a:xfrm>
            <a:off x="4096512" y="4709160"/>
            <a:ext cx="2971800" cy="960120"/>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61104" y="4901184"/>
            <a:ext cx="2633472" cy="566928"/>
          </a:xfrm>
          <a:prstGeom prst="rect">
            <a:avLst/>
          </a:prstGeom>
          <a:noFill/>
        </p:spPr>
        <p:txBody>
          <a:bodyPr wrap="square" lIns="18288" rIns="18288" tIns="18288" bIns="18288" anchor="t">
            <a:spAutoFit/>
          </a:bodyPr>
          <a:lstStyle/>
          <a:p>
            <a:pPr algn="l">
              <a:lnSpc>
                <a:spcPct val="104000"/>
              </a:lnSpc>
              <a:spcAft>
                <a:spcPts val="0"/>
              </a:spcAft>
            </a:pPr>
            <a:r>
              <a:rPr sz="1300" b="1">
                <a:solidFill>
                  <a:srgbClr val="281913"/>
                </a:solidFill>
                <a:latin typeface="Arial"/>
              </a:rPr>
              <a:t>Gate: user, rule and privacy review; draft-format acceptance.</a:t>
            </a:r>
          </a:p>
        </p:txBody>
      </p:sp>
      <p:sp>
        <p:nvSpPr>
          <p:cNvPr id="28" name="Oval 27"/>
          <p:cNvSpPr/>
          <p:nvPr/>
        </p:nvSpPr>
        <p:spPr>
          <a:xfrm>
            <a:off x="7754112" y="2624328"/>
            <a:ext cx="347472" cy="347472"/>
          </a:xfrm>
          <a:prstGeom prst="ellipse">
            <a:avLst/>
          </a:prstGeom>
          <a:solidFill>
            <a:srgbClr val="FFFFFF"/>
          </a:solidFill>
          <a:ln w="5080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79792" y="3136392"/>
            <a:ext cx="3017520" cy="594360"/>
          </a:xfrm>
          <a:prstGeom prst="rect">
            <a:avLst/>
          </a:prstGeom>
          <a:noFill/>
        </p:spPr>
        <p:txBody>
          <a:bodyPr wrap="square" lIns="18288" rIns="18288" tIns="18288" bIns="18288" anchor="t">
            <a:spAutoFit/>
          </a:bodyPr>
          <a:lstStyle/>
          <a:p>
            <a:pPr algn="l">
              <a:lnSpc>
                <a:spcPct val="104000"/>
              </a:lnSpc>
              <a:spcAft>
                <a:spcPts val="0"/>
              </a:spcAft>
            </a:pPr>
            <a:r>
              <a:rPr sz="1900" b="1">
                <a:solidFill>
                  <a:srgbClr val="281913"/>
                </a:solidFill>
                <a:latin typeface="Arial"/>
              </a:rPr>
              <a:t>Authorised Integration</a:t>
            </a:r>
          </a:p>
        </p:txBody>
      </p:sp>
      <p:sp>
        <p:nvSpPr>
          <p:cNvPr id="30" name="TextBox 29"/>
          <p:cNvSpPr txBox="1"/>
          <p:nvPr/>
        </p:nvSpPr>
        <p:spPr>
          <a:xfrm>
            <a:off x="7479792" y="3803904"/>
            <a:ext cx="2907792" cy="786384"/>
          </a:xfrm>
          <a:prstGeom prst="rect">
            <a:avLst/>
          </a:prstGeom>
          <a:noFill/>
        </p:spPr>
        <p:txBody>
          <a:bodyPr wrap="square" lIns="18288" rIns="18288" tIns="18288" bIns="18288" anchor="t">
            <a:spAutoFit/>
          </a:bodyPr>
          <a:lstStyle/>
          <a:p>
            <a:pPr algn="l">
              <a:lnSpc>
                <a:spcPct val="104000"/>
              </a:lnSpc>
              <a:spcAft>
                <a:spcPts val="0"/>
              </a:spcAft>
            </a:pPr>
            <a:r>
              <a:rPr sz="1350" b="0">
                <a:solidFill>
                  <a:srgbClr val="6E635C"/>
                </a:solidFill>
                <a:latin typeface="Arial"/>
              </a:rPr>
              <a:t>Submission and status updates only after agency agreements and access.</a:t>
            </a:r>
          </a:p>
        </p:txBody>
      </p:sp>
      <p:sp>
        <p:nvSpPr>
          <p:cNvPr id="31" name="Rounded Rectangle 30"/>
          <p:cNvSpPr/>
          <p:nvPr/>
        </p:nvSpPr>
        <p:spPr>
          <a:xfrm>
            <a:off x="7479792" y="4709160"/>
            <a:ext cx="2971800" cy="960120"/>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44383" y="4901184"/>
            <a:ext cx="2633472" cy="566928"/>
          </a:xfrm>
          <a:prstGeom prst="rect">
            <a:avLst/>
          </a:prstGeom>
          <a:noFill/>
        </p:spPr>
        <p:txBody>
          <a:bodyPr wrap="square" lIns="18288" rIns="18288" tIns="18288" bIns="18288" anchor="t">
            <a:spAutoFit/>
          </a:bodyPr>
          <a:lstStyle/>
          <a:p>
            <a:pPr algn="l">
              <a:lnSpc>
                <a:spcPct val="104000"/>
              </a:lnSpc>
              <a:spcAft>
                <a:spcPts val="0"/>
              </a:spcAft>
            </a:pPr>
            <a:r>
              <a:rPr sz="1300" b="1">
                <a:solidFill>
                  <a:srgbClr val="281913"/>
                </a:solidFill>
                <a:latin typeface="Arial"/>
              </a:rPr>
              <a:t>Gate: legal, identity, operational and technical approvals.</a:t>
            </a:r>
          </a:p>
        </p:txBody>
      </p:sp>
      <p:sp>
        <p:nvSpPr>
          <p:cNvPr id="33" name="TextBox 32"/>
          <p:cNvSpPr txBox="1"/>
          <p:nvPr/>
        </p:nvSpPr>
        <p:spPr>
          <a:xfrm>
            <a:off x="685800" y="6245352"/>
            <a:ext cx="10561320" cy="201168"/>
          </a:xfrm>
          <a:prstGeom prst="rect">
            <a:avLst/>
          </a:prstGeom>
          <a:noFill/>
        </p:spPr>
        <p:txBody>
          <a:bodyPr wrap="square" lIns="18288" rIns="18288" tIns="18288" bIns="18288" anchor="t">
            <a:spAutoFit/>
          </a:bodyPr>
          <a:lstStyle/>
          <a:p>
            <a:pPr algn="l">
              <a:lnSpc>
                <a:spcPct val="104000"/>
              </a:lnSpc>
              <a:spcAft>
                <a:spcPts val="0"/>
              </a:spcAft>
            </a:pPr>
            <a:r>
              <a:rPr sz="900" b="0">
                <a:solidFill>
                  <a:srgbClr val="6E635C"/>
                </a:solidFill>
                <a:latin typeface="Arial"/>
              </a:rPr>
              <a:t>Evidence status as at 12 September 2026: prototype and form research exist; interviews, host, reviewers and integration agreements are not recorded.</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798377" cy="307777"/>
          </a:xfrm>
          <a:prstGeom prst="rect">
            <a:avLst/>
          </a:prstGeom>
          <a:noFill/>
        </p:spPr>
        <p:txBody>
          <a:bodyPr wrap="none">
            <a:spAutoFit/>
          </a:bodyPr>
          <a:lstStyle/>
          <a:p>
            <a:pPr>
              <a:defRPr sz="1100" b="1">
                <a:solidFill>
                  <a:srgbClr val="1869AA"/>
                </a:solidFill>
                <a:latin typeface="Arial"/>
              </a:defRPr>
            </a:pPr>
            <a:r>
              <a:rPr sz="1400" dirty="0"/>
              <a:t>SHOW THE VALUE</a:t>
            </a:r>
          </a:p>
        </p:txBody>
      </p:sp>
      <p:sp>
        <p:nvSpPr>
          <p:cNvPr id="4" name="TextBox 3"/>
          <p:cNvSpPr txBox="1"/>
          <p:nvPr/>
        </p:nvSpPr>
        <p:spPr>
          <a:xfrm>
            <a:off x="685800" y="777240"/>
            <a:ext cx="10789920" cy="594360"/>
          </a:xfrm>
          <a:prstGeom prst="rect">
            <a:avLst/>
          </a:prstGeom>
          <a:noFill/>
        </p:spPr>
        <p:txBody>
          <a:bodyPr wrap="none">
            <a:spAutoFit/>
          </a:bodyPr>
          <a:lstStyle/>
          <a:p>
            <a:pPr>
              <a:defRPr sz="2700" b="1">
                <a:solidFill>
                  <a:srgbClr val="0C2138"/>
                </a:solidFill>
                <a:latin typeface="Arial"/>
              </a:defRPr>
            </a:pPr>
            <a:r>
              <a:t>6. Impact &amp; Potential</a:t>
            </a:r>
          </a:p>
        </p:txBody>
      </p:sp>
      <p:sp>
        <p:nvSpPr>
          <p:cNvPr id="11" name="Rectangle 10"/>
          <p:cNvSpPr/>
          <p:nvPr/>
        </p:nvSpPr>
        <p:spPr>
          <a:xfrm>
            <a:off x="685800" y="6446520"/>
            <a:ext cx="10817352" cy="274320"/>
          </a:xfrm>
          <a:prstGeom prst="rect">
            <a:avLst/>
          </a:prstGeom>
          <a:solidFill>
            <a:srgbClr val="DCE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6446520"/>
            <a:ext cx="9601200" cy="274320"/>
          </a:xfrm>
          <a:prstGeom prst="rect">
            <a:avLst/>
          </a:prstGeom>
          <a:noFill/>
        </p:spPr>
        <p:txBody>
          <a:bodyPr wrap="none">
            <a:spAutoFit/>
          </a:bodyPr>
          <a:lstStyle/>
          <a:p>
            <a:pPr>
              <a:defRPr sz="800">
                <a:solidFill>
                  <a:srgbClr val="646E78"/>
                </a:solidFill>
                <a:latin typeface="Arial"/>
              </a:defRPr>
            </a:pPr>
            <a:r>
              <a:t>URIIS Student Biz Innov Challenge 2026 | Final Pitch</a:t>
            </a:r>
          </a:p>
        </p:txBody>
      </p:sp>
      <p:sp>
        <p:nvSpPr>
          <p:cNvPr id="13" name="TextBox 12"/>
          <p:cNvSpPr txBox="1"/>
          <p:nvPr/>
        </p:nvSpPr>
        <p:spPr>
          <a:xfrm>
            <a:off x="11187625" y="6446520"/>
            <a:ext cx="242375" cy="274320"/>
          </a:xfrm>
          <a:prstGeom prst="rect">
            <a:avLst/>
          </a:prstGeom>
          <a:noFill/>
        </p:spPr>
        <p:txBody>
          <a:bodyPr wrap="none">
            <a:spAutoFit/>
          </a:bodyPr>
          <a:lstStyle/>
          <a:p>
            <a:pPr algn="r">
              <a:defRPr sz="800">
                <a:solidFill>
                  <a:srgbClr val="646E78"/>
                </a:solidFill>
                <a:latin typeface="Arial"/>
              </a:defRPr>
            </a:pPr>
            <a:r>
              <a:rPr lang="en-US" dirty="0"/>
              <a:t>6</a:t>
            </a:r>
            <a:endParaRPr dirty="0"/>
          </a:p>
        </p:txBody>
      </p:sp>
      <p:pic>
        <p:nvPicPr>
          <p:cNvPr id="14" name="Picture 13" descr="A logo for a university research and innovation summit&#10;&#10;Description automatically generated">
            <a:extLst>
              <a:ext uri="{FF2B5EF4-FFF2-40B4-BE49-F238E27FC236}">
                <a16:creationId xmlns:a16="http://schemas.microsoft.com/office/drawing/2014/main" id="{B5A831C5-7381-9F65-9D56-7BC00A8F5404}"/>
              </a:ext>
            </a:extLst>
          </p:cNvPr>
          <p:cNvPicPr>
            <a:picLocks noChangeAspect="1"/>
          </p:cNvPicPr>
          <p:nvPr/>
        </p:nvPicPr>
        <p:blipFill>
          <a:blip r:embed="rId2"/>
          <a:stretch>
            <a:fillRect/>
          </a:stretch>
        </p:blipFill>
        <p:spPr>
          <a:xfrm>
            <a:off x="11341303" y="0"/>
            <a:ext cx="850392" cy="850392"/>
          </a:xfrm>
          <a:prstGeom prst="rect">
            <a:avLst/>
          </a:prstGeom>
        </p:spPr>
      </p:pic>
      <p:sp>
        <p:nvSpPr>
          <p:cNvPr id="15" name="TextBox 14"/>
          <p:cNvSpPr txBox="1"/>
          <p:nvPr/>
        </p:nvSpPr>
        <p:spPr>
          <a:xfrm>
            <a:off x="713232" y="1536192"/>
            <a:ext cx="10515600" cy="493776"/>
          </a:xfrm>
          <a:prstGeom prst="rect">
            <a:avLst/>
          </a:prstGeom>
          <a:noFill/>
        </p:spPr>
        <p:txBody>
          <a:bodyPr wrap="square" lIns="18288" rIns="18288" tIns="18288" bIns="18288" anchor="t">
            <a:spAutoFit/>
          </a:bodyPr>
          <a:lstStyle/>
          <a:p>
            <a:pPr algn="l">
              <a:lnSpc>
                <a:spcPct val="104000"/>
              </a:lnSpc>
              <a:spcAft>
                <a:spcPts val="0"/>
              </a:spcAft>
            </a:pPr>
            <a:r>
              <a:rPr sz="2800" b="1">
                <a:solidFill>
                  <a:srgbClr val="281913"/>
                </a:solidFill>
                <a:latin typeface="Arial"/>
              </a:rPr>
              <a:t>Test Whether Families Arrive Better Prepared</a:t>
            </a:r>
          </a:p>
        </p:txBody>
      </p:sp>
      <p:sp>
        <p:nvSpPr>
          <p:cNvPr id="16" name="TextBox 15"/>
          <p:cNvSpPr txBox="1"/>
          <p:nvPr/>
        </p:nvSpPr>
        <p:spPr>
          <a:xfrm>
            <a:off x="713232" y="2487168"/>
            <a:ext cx="3017520" cy="1042415"/>
          </a:xfrm>
          <a:prstGeom prst="rect">
            <a:avLst/>
          </a:prstGeom>
          <a:noFill/>
        </p:spPr>
        <p:txBody>
          <a:bodyPr wrap="square" lIns="18288" rIns="18288" tIns="18288" bIns="18288" anchor="t">
            <a:spAutoFit/>
          </a:bodyPr>
          <a:lstStyle/>
          <a:p>
            <a:pPr algn="l">
              <a:lnSpc>
                <a:spcPct val="104000"/>
              </a:lnSpc>
              <a:spcAft>
                <a:spcPts val="0"/>
              </a:spcAft>
            </a:pPr>
            <a:r>
              <a:rPr sz="2200" b="1">
                <a:solidFill>
                  <a:srgbClr val="281913"/>
                </a:solidFill>
                <a:latin typeface="Arial"/>
              </a:rPr>
              <a:t>Less Preparation
Time?</a:t>
            </a:r>
          </a:p>
        </p:txBody>
      </p:sp>
      <p:cxnSp>
        <p:nvCxnSpPr>
          <p:cNvPr id="17" name="Connector 16"/>
          <p:cNvCxnSpPr/>
          <p:nvPr/>
        </p:nvCxnSpPr>
        <p:spPr>
          <a:xfrm>
            <a:off x="3931920" y="2487168"/>
            <a:ext cx="9143" cy="0"/>
          </a:xfrm>
          <a:prstGeom prst="line">
            <a:avLst/>
          </a:prstGeom>
          <a:ln w="889000">
            <a:solidFill>
              <a:srgbClr val="E2DBD4"/>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206240" y="2487168"/>
            <a:ext cx="3017520" cy="1042415"/>
          </a:xfrm>
          <a:prstGeom prst="rect">
            <a:avLst/>
          </a:prstGeom>
          <a:noFill/>
        </p:spPr>
        <p:txBody>
          <a:bodyPr wrap="square" lIns="18288" rIns="18288" tIns="18288" bIns="18288" anchor="t">
            <a:spAutoFit/>
          </a:bodyPr>
          <a:lstStyle/>
          <a:p>
            <a:pPr algn="l">
              <a:lnSpc>
                <a:spcPct val="104000"/>
              </a:lnSpc>
              <a:spcAft>
                <a:spcPts val="0"/>
              </a:spcAft>
            </a:pPr>
            <a:r>
              <a:rPr sz="2200" b="1">
                <a:solidFill>
                  <a:srgbClr val="281913"/>
                </a:solidFill>
                <a:latin typeface="Arial"/>
              </a:rPr>
              <a:t>Fewer Document
Corrections?</a:t>
            </a:r>
          </a:p>
        </p:txBody>
      </p:sp>
      <p:cxnSp>
        <p:nvCxnSpPr>
          <p:cNvPr id="19" name="Connector 18"/>
          <p:cNvCxnSpPr/>
          <p:nvPr/>
        </p:nvCxnSpPr>
        <p:spPr>
          <a:xfrm>
            <a:off x="7424927" y="2487168"/>
            <a:ext cx="9144" cy="0"/>
          </a:xfrm>
          <a:prstGeom prst="line">
            <a:avLst/>
          </a:prstGeom>
          <a:ln w="889000">
            <a:solidFill>
              <a:srgbClr val="E2DBD4"/>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99248" y="2487168"/>
            <a:ext cx="3017520" cy="1042415"/>
          </a:xfrm>
          <a:prstGeom prst="rect">
            <a:avLst/>
          </a:prstGeom>
          <a:noFill/>
        </p:spPr>
        <p:txBody>
          <a:bodyPr wrap="square" lIns="18288" rIns="18288" tIns="18288" bIns="18288" anchor="t">
            <a:spAutoFit/>
          </a:bodyPr>
          <a:lstStyle/>
          <a:p>
            <a:pPr algn="l">
              <a:lnSpc>
                <a:spcPct val="104000"/>
              </a:lnSpc>
              <a:spcAft>
                <a:spcPts val="0"/>
              </a:spcAft>
            </a:pPr>
            <a:r>
              <a:rPr sz="2200" b="1">
                <a:solidFill>
                  <a:srgbClr val="281913"/>
                </a:solidFill>
                <a:latin typeface="Arial"/>
              </a:rPr>
              <a:t>More Relevant
Deadlines Met?</a:t>
            </a:r>
          </a:p>
        </p:txBody>
      </p:sp>
      <p:sp>
        <p:nvSpPr>
          <p:cNvPr id="21" name="Rounded Rectangle 20"/>
          <p:cNvSpPr/>
          <p:nvPr/>
        </p:nvSpPr>
        <p:spPr>
          <a:xfrm>
            <a:off x="713232" y="4251960"/>
            <a:ext cx="3703320" cy="1170432"/>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507992"/>
            <a:ext cx="3291840" cy="329184"/>
          </a:xfrm>
          <a:prstGeom prst="rect">
            <a:avLst/>
          </a:prstGeom>
          <a:noFill/>
        </p:spPr>
        <p:txBody>
          <a:bodyPr wrap="square" lIns="18288" rIns="18288" tIns="18288" bIns="18288" anchor="t">
            <a:spAutoFit/>
          </a:bodyPr>
          <a:lstStyle/>
          <a:p>
            <a:pPr algn="l">
              <a:lnSpc>
                <a:spcPct val="104000"/>
              </a:lnSpc>
              <a:spcAft>
                <a:spcPts val="0"/>
              </a:spcAft>
            </a:pPr>
            <a:r>
              <a:rPr sz="1800" b="1">
                <a:solidFill>
                  <a:srgbClr val="281913"/>
                </a:solidFill>
                <a:latin typeface="Arial"/>
              </a:rPr>
              <a:t>RM3.24b in 2024</a:t>
            </a:r>
          </a:p>
        </p:txBody>
      </p:sp>
      <p:sp>
        <p:nvSpPr>
          <p:cNvPr id="23" name="TextBox 22"/>
          <p:cNvSpPr txBox="1"/>
          <p:nvPr/>
        </p:nvSpPr>
        <p:spPr>
          <a:xfrm>
            <a:off x="914400" y="4882896"/>
            <a:ext cx="3273552" cy="457200"/>
          </a:xfrm>
          <a:prstGeom prst="rect">
            <a:avLst/>
          </a:prstGeom>
          <a:noFill/>
        </p:spPr>
        <p:txBody>
          <a:bodyPr wrap="square" lIns="18288" rIns="18288" tIns="18288" bIns="18288" anchor="t">
            <a:spAutoFit/>
          </a:bodyPr>
          <a:lstStyle/>
          <a:p>
            <a:pPr algn="l">
              <a:lnSpc>
                <a:spcPct val="104000"/>
              </a:lnSpc>
              <a:spcAft>
                <a:spcPts val="0"/>
              </a:spcAft>
            </a:pPr>
            <a:r>
              <a:rPr sz="1220" b="0">
                <a:solidFill>
                  <a:srgbClr val="6E635C"/>
                </a:solidFill>
                <a:latin typeface="Arial"/>
              </a:rPr>
              <a:t>Financial stakes in EPF death withdrawals, not MyTakziah revenue.</a:t>
            </a:r>
          </a:p>
        </p:txBody>
      </p:sp>
      <p:sp>
        <p:nvSpPr>
          <p:cNvPr id="24" name="Rounded Rectangle 23"/>
          <p:cNvSpPr/>
          <p:nvPr/>
        </p:nvSpPr>
        <p:spPr>
          <a:xfrm>
            <a:off x="4681728" y="4251960"/>
            <a:ext cx="6492240" cy="1170432"/>
          </a:xfrm>
          <a:prstGeom prst="roundRect">
            <a:avLst/>
          </a:prstGeom>
          <a:solidFill>
            <a:srgbClr val="F9F3EA"/>
          </a:solidFill>
          <a:ln w="10160">
            <a:solidFill>
              <a:srgbClr val="E2DB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01184" y="4489704"/>
            <a:ext cx="5989320" cy="274320"/>
          </a:xfrm>
          <a:prstGeom prst="rect">
            <a:avLst/>
          </a:prstGeom>
          <a:noFill/>
        </p:spPr>
        <p:txBody>
          <a:bodyPr wrap="square" lIns="18288" rIns="18288" tIns="18288" bIns="18288" anchor="t">
            <a:spAutoFit/>
          </a:bodyPr>
          <a:lstStyle/>
          <a:p>
            <a:pPr algn="l">
              <a:lnSpc>
                <a:spcPct val="104000"/>
              </a:lnSpc>
              <a:spcAft>
                <a:spcPts val="0"/>
              </a:spcAft>
            </a:pPr>
            <a:r>
              <a:rPr sz="1250" b="1">
                <a:solidFill>
                  <a:srgbClr val="6E635C"/>
                </a:solidFill>
                <a:latin typeface="Arial"/>
              </a:rPr>
              <a:t>[ASSUMPTION] TEST ONLY AFTER USER VALUE</a:t>
            </a:r>
          </a:p>
        </p:txBody>
      </p:sp>
      <p:sp>
        <p:nvSpPr>
          <p:cNvPr id="26" name="TextBox 25"/>
          <p:cNvSpPr txBox="1"/>
          <p:nvPr/>
        </p:nvSpPr>
        <p:spPr>
          <a:xfrm>
            <a:off x="4901184" y="4846320"/>
            <a:ext cx="5943600" cy="420624"/>
          </a:xfrm>
          <a:prstGeom prst="rect">
            <a:avLst/>
          </a:prstGeom>
          <a:noFill/>
        </p:spPr>
        <p:txBody>
          <a:bodyPr wrap="square" lIns="18288" rIns="18288" tIns="18288" bIns="18288" anchor="t">
            <a:spAutoFit/>
          </a:bodyPr>
          <a:lstStyle/>
          <a:p>
            <a:pPr algn="l">
              <a:lnSpc>
                <a:spcPct val="104000"/>
              </a:lnSpc>
              <a:spcAft>
                <a:spcPts val="0"/>
              </a:spcAft>
            </a:pPr>
            <a:r>
              <a:rPr sz="1220" b="0">
                <a:solidFill>
                  <a:srgbClr val="6E635C"/>
                </a:solidFill>
                <a:latin typeface="Arial"/>
              </a:rPr>
              <a:t>Keep guidance free; test optional fixed-fee provider listings. No family-data sale, benefit commission or paid influence on guidance.</a:t>
            </a:r>
          </a:p>
        </p:txBody>
      </p:sp>
      <p:sp>
        <p:nvSpPr>
          <p:cNvPr id="27" name="TextBox 26"/>
          <p:cNvSpPr txBox="1"/>
          <p:nvPr/>
        </p:nvSpPr>
        <p:spPr>
          <a:xfrm>
            <a:off x="685800" y="6245352"/>
            <a:ext cx="10561320" cy="201168"/>
          </a:xfrm>
          <a:prstGeom prst="rect">
            <a:avLst/>
          </a:prstGeom>
          <a:noFill/>
        </p:spPr>
        <p:txBody>
          <a:bodyPr wrap="square" lIns="18288" rIns="18288" tIns="18288" bIns="18288" anchor="t">
            <a:spAutoFit/>
          </a:bodyPr>
          <a:lstStyle/>
          <a:p>
            <a:pPr algn="l">
              <a:lnSpc>
                <a:spcPct val="104000"/>
              </a:lnSpc>
              <a:spcAft>
                <a:spcPts val="0"/>
              </a:spcAft>
            </a:pPr>
            <a:r>
              <a:rPr sz="900" b="0">
                <a:solidFill>
                  <a:srgbClr val="6E635C"/>
                </a:solidFill>
                <a:latin typeface="Arial"/>
              </a:rPr>
              <a:t>Source: EPF Integrated Annual Report 2024. Pilot outcomes and willingness to pay have not been measured.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85800" y="411480"/>
            <a:ext cx="1982787" cy="307777"/>
          </a:xfrm>
          <a:prstGeom prst="rect">
            <a:avLst/>
          </a:prstGeom>
          <a:noFill/>
        </p:spPr>
        <p:txBody>
          <a:bodyPr wrap="none">
            <a:spAutoFit/>
          </a:bodyPr>
          <a:lstStyle/>
          <a:p>
            <a:pPr>
              <a:defRPr sz="1100" b="1">
                <a:solidFill>
                  <a:srgbClr val="1869AA"/>
                </a:solidFill>
                <a:latin typeface="Arial"/>
              </a:defRPr>
            </a:pPr>
            <a:r>
              <a:rPr sz="1400" dirty="0"/>
              <a:t>FINISH MEMORABLY</a:t>
            </a:r>
          </a:p>
        </p:txBody>
      </p:sp>
      <p:sp>
        <p:nvSpPr>
          <p:cNvPr id="4" name="TextBox 3"/>
          <p:cNvSpPr txBox="1"/>
          <p:nvPr/>
        </p:nvSpPr>
        <p:spPr>
          <a:xfrm>
            <a:off x="685800" y="777240"/>
            <a:ext cx="10789920" cy="594360"/>
          </a:xfrm>
          <a:prstGeom prst="rect">
            <a:avLst/>
          </a:prstGeom>
          <a:noFill/>
        </p:spPr>
        <p:txBody>
          <a:bodyPr wrap="none">
            <a:spAutoFit/>
          </a:bodyPr>
          <a:lstStyle/>
          <a:p>
            <a:pPr>
              <a:defRPr sz="2700" b="1">
                <a:solidFill>
                  <a:srgbClr val="0C2138"/>
                </a:solidFill>
                <a:latin typeface="Arial"/>
              </a:defRPr>
            </a:pPr>
            <a:r>
              <a:t>7. Why Us + Closing Vision</a:t>
            </a:r>
          </a:p>
        </p:txBody>
      </p:sp>
      <p:sp>
        <p:nvSpPr>
          <p:cNvPr id="11" name="Rectangle 10"/>
          <p:cNvSpPr/>
          <p:nvPr/>
        </p:nvSpPr>
        <p:spPr>
          <a:xfrm>
            <a:off x="685800" y="6446520"/>
            <a:ext cx="10817352" cy="274320"/>
          </a:xfrm>
          <a:prstGeom prst="rect">
            <a:avLst/>
          </a:prstGeom>
          <a:solidFill>
            <a:srgbClr val="DCE1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85800" y="6446520"/>
            <a:ext cx="9601200" cy="274320"/>
          </a:xfrm>
          <a:prstGeom prst="rect">
            <a:avLst/>
          </a:prstGeom>
          <a:noFill/>
        </p:spPr>
        <p:txBody>
          <a:bodyPr wrap="none">
            <a:spAutoFit/>
          </a:bodyPr>
          <a:lstStyle/>
          <a:p>
            <a:pPr>
              <a:defRPr sz="800">
                <a:solidFill>
                  <a:srgbClr val="646E78"/>
                </a:solidFill>
                <a:latin typeface="Arial"/>
              </a:defRPr>
            </a:pPr>
            <a:r>
              <a:t>URIIS Student Biz Innov Challenge 2026 | Final Pitch</a:t>
            </a:r>
          </a:p>
        </p:txBody>
      </p:sp>
      <p:sp>
        <p:nvSpPr>
          <p:cNvPr id="13" name="TextBox 12"/>
          <p:cNvSpPr txBox="1"/>
          <p:nvPr/>
        </p:nvSpPr>
        <p:spPr>
          <a:xfrm>
            <a:off x="11129917" y="6446520"/>
            <a:ext cx="300083" cy="274320"/>
          </a:xfrm>
          <a:prstGeom prst="rect">
            <a:avLst/>
          </a:prstGeom>
          <a:noFill/>
        </p:spPr>
        <p:txBody>
          <a:bodyPr wrap="none">
            <a:spAutoFit/>
          </a:bodyPr>
          <a:lstStyle/>
          <a:p>
            <a:pPr algn="r">
              <a:defRPr sz="800">
                <a:solidFill>
                  <a:srgbClr val="646E78"/>
                </a:solidFill>
                <a:latin typeface="Arial"/>
              </a:defRPr>
            </a:pPr>
            <a:r>
              <a:rPr lang="en-US" dirty="0"/>
              <a:t>7</a:t>
            </a:r>
            <a:endParaRPr dirty="0"/>
          </a:p>
        </p:txBody>
      </p:sp>
      <p:pic>
        <p:nvPicPr>
          <p:cNvPr id="14" name="Picture 13" descr="A logo for a university research and innovation summit&#10;&#10;Description automatically generated">
            <a:extLst>
              <a:ext uri="{FF2B5EF4-FFF2-40B4-BE49-F238E27FC236}">
                <a16:creationId xmlns:a16="http://schemas.microsoft.com/office/drawing/2014/main" id="{710F3032-A4F1-85C4-C114-F00E51D41ABB}"/>
              </a:ext>
            </a:extLst>
          </p:cNvPr>
          <p:cNvPicPr>
            <a:picLocks noChangeAspect="1"/>
          </p:cNvPicPr>
          <p:nvPr/>
        </p:nvPicPr>
        <p:blipFill>
          <a:blip r:embed="rId2"/>
          <a:stretch>
            <a:fillRect/>
          </a:stretch>
        </p:blipFill>
        <p:spPr>
          <a:xfrm>
            <a:off x="11341303" y="0"/>
            <a:ext cx="850392" cy="850392"/>
          </a:xfrm>
          <a:prstGeom prst="rect">
            <a:avLst/>
          </a:prstGeom>
        </p:spPr>
      </p:pic>
      <p:sp>
        <p:nvSpPr>
          <p:cNvPr id="15" name="TextBox 14"/>
          <p:cNvSpPr txBox="1"/>
          <p:nvPr/>
        </p:nvSpPr>
        <p:spPr>
          <a:xfrm>
            <a:off x="713232" y="1536192"/>
            <a:ext cx="7360920" cy="512064"/>
          </a:xfrm>
          <a:prstGeom prst="rect">
            <a:avLst/>
          </a:prstGeom>
          <a:noFill/>
        </p:spPr>
        <p:txBody>
          <a:bodyPr wrap="square" lIns="18288" rIns="18288" tIns="18288" bIns="18288" anchor="t">
            <a:spAutoFit/>
          </a:bodyPr>
          <a:lstStyle/>
          <a:p>
            <a:pPr algn="l">
              <a:lnSpc>
                <a:spcPct val="104000"/>
              </a:lnSpc>
              <a:spcAft>
                <a:spcPts val="0"/>
              </a:spcAft>
            </a:pPr>
            <a:r>
              <a:rPr sz="3000" b="1">
                <a:solidFill>
                  <a:srgbClr val="281913"/>
                </a:solidFill>
                <a:latin typeface="Arial"/>
              </a:rPr>
              <a:t>Help Us Test This With One Community</a:t>
            </a:r>
          </a:p>
        </p:txBody>
      </p:sp>
      <p:sp>
        <p:nvSpPr>
          <p:cNvPr id="16" name="TextBox 15"/>
          <p:cNvSpPr txBox="1"/>
          <p:nvPr/>
        </p:nvSpPr>
        <p:spPr>
          <a:xfrm>
            <a:off x="713232" y="2423160"/>
            <a:ext cx="1554480" cy="256032"/>
          </a:xfrm>
          <a:prstGeom prst="rect">
            <a:avLst/>
          </a:prstGeom>
          <a:noFill/>
        </p:spPr>
        <p:txBody>
          <a:bodyPr wrap="square" lIns="18288" rIns="18288" tIns="18288" bIns="18288" anchor="t">
            <a:spAutoFit/>
          </a:bodyPr>
          <a:lstStyle/>
          <a:p>
            <a:pPr algn="l">
              <a:lnSpc>
                <a:spcPct val="104000"/>
              </a:lnSpc>
              <a:spcAft>
                <a:spcPts val="0"/>
              </a:spcAft>
            </a:pPr>
            <a:r>
              <a:rPr sz="1120" b="1">
                <a:solidFill>
                  <a:srgbClr val="376D7C"/>
                </a:solidFill>
                <a:latin typeface="Arial"/>
              </a:rPr>
              <a:t>TEAM</a:t>
            </a:r>
          </a:p>
        </p:txBody>
      </p:sp>
      <p:sp>
        <p:nvSpPr>
          <p:cNvPr id="17" name="TextBox 16"/>
          <p:cNvSpPr txBox="1"/>
          <p:nvPr/>
        </p:nvSpPr>
        <p:spPr>
          <a:xfrm>
            <a:off x="2286000" y="2404872"/>
            <a:ext cx="5440680" cy="566928"/>
          </a:xfrm>
          <a:prstGeom prst="rect">
            <a:avLst/>
          </a:prstGeom>
          <a:noFill/>
        </p:spPr>
        <p:txBody>
          <a:bodyPr wrap="square" lIns="18288" rIns="18288" tIns="18288" bIns="18288" anchor="t">
            <a:spAutoFit/>
          </a:bodyPr>
          <a:lstStyle/>
          <a:p>
            <a:pPr algn="l">
              <a:lnSpc>
                <a:spcPct val="104000"/>
              </a:lnSpc>
              <a:spcAft>
                <a:spcPts val="0"/>
              </a:spcAft>
            </a:pPr>
            <a:r>
              <a:rPr sz="1600" b="1">
                <a:solidFill>
                  <a:srgbClr val="281913"/>
                </a:solidFill>
                <a:latin typeface="Arial"/>
              </a:rPr>
              <a:t>Four students: two Computer Science, two Actuarial Science.</a:t>
            </a:r>
          </a:p>
        </p:txBody>
      </p:sp>
      <p:cxnSp>
        <p:nvCxnSpPr>
          <p:cNvPr id="18" name="Connector 17"/>
          <p:cNvCxnSpPr/>
          <p:nvPr/>
        </p:nvCxnSpPr>
        <p:spPr>
          <a:xfrm>
            <a:off x="713232" y="3008376"/>
            <a:ext cx="7086599"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13232" y="3264408"/>
            <a:ext cx="1554480" cy="256032"/>
          </a:xfrm>
          <a:prstGeom prst="rect">
            <a:avLst/>
          </a:prstGeom>
          <a:noFill/>
        </p:spPr>
        <p:txBody>
          <a:bodyPr wrap="square" lIns="18288" rIns="18288" tIns="18288" bIns="18288" anchor="t">
            <a:spAutoFit/>
          </a:bodyPr>
          <a:lstStyle/>
          <a:p>
            <a:pPr algn="l">
              <a:lnSpc>
                <a:spcPct val="104000"/>
              </a:lnSpc>
              <a:spcAft>
                <a:spcPts val="0"/>
              </a:spcAft>
            </a:pPr>
            <a:r>
              <a:rPr sz="1120" b="1">
                <a:solidFill>
                  <a:srgbClr val="376D7C"/>
                </a:solidFill>
                <a:latin typeface="Arial"/>
              </a:rPr>
              <a:t>BUILT BEFORE</a:t>
            </a:r>
          </a:p>
        </p:txBody>
      </p:sp>
      <p:sp>
        <p:nvSpPr>
          <p:cNvPr id="20" name="TextBox 19"/>
          <p:cNvSpPr txBox="1"/>
          <p:nvPr/>
        </p:nvSpPr>
        <p:spPr>
          <a:xfrm>
            <a:off x="2286000" y="3246120"/>
            <a:ext cx="5440680" cy="566928"/>
          </a:xfrm>
          <a:prstGeom prst="rect">
            <a:avLst/>
          </a:prstGeom>
          <a:noFill/>
        </p:spPr>
        <p:txBody>
          <a:bodyPr wrap="square" lIns="18288" rIns="18288" tIns="18288" bIns="18288" anchor="t">
            <a:spAutoFit/>
          </a:bodyPr>
          <a:lstStyle/>
          <a:p>
            <a:pPr algn="l">
              <a:lnSpc>
                <a:spcPct val="104000"/>
              </a:lnSpc>
              <a:spcAft>
                <a:spcPts val="0"/>
              </a:spcAft>
            </a:pPr>
            <a:r>
              <a:rPr sz="1600" b="1">
                <a:solidFill>
                  <a:srgbClr val="281913"/>
                </a:solidFill>
                <a:latin typeface="Arial"/>
              </a:rPr>
              <a:t>Two members built Layak, a previous hackathon grand champion.</a:t>
            </a:r>
          </a:p>
        </p:txBody>
      </p:sp>
      <p:cxnSp>
        <p:nvCxnSpPr>
          <p:cNvPr id="21" name="Connector 20"/>
          <p:cNvCxnSpPr/>
          <p:nvPr/>
        </p:nvCxnSpPr>
        <p:spPr>
          <a:xfrm>
            <a:off x="713232" y="3849624"/>
            <a:ext cx="7086599" cy="0"/>
          </a:xfrm>
          <a:prstGeom prst="line">
            <a:avLst/>
          </a:prstGeom>
          <a:ln w="12700">
            <a:solidFill>
              <a:srgbClr val="E2DBD4"/>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713232" y="4105656"/>
            <a:ext cx="1554480" cy="256032"/>
          </a:xfrm>
          <a:prstGeom prst="rect">
            <a:avLst/>
          </a:prstGeom>
          <a:noFill/>
        </p:spPr>
        <p:txBody>
          <a:bodyPr wrap="square" lIns="18288" rIns="18288" tIns="18288" bIns="18288" anchor="t">
            <a:spAutoFit/>
          </a:bodyPr>
          <a:lstStyle/>
          <a:p>
            <a:pPr algn="l">
              <a:lnSpc>
                <a:spcPct val="104000"/>
              </a:lnSpc>
              <a:spcAft>
                <a:spcPts val="0"/>
              </a:spcAft>
            </a:pPr>
            <a:r>
              <a:rPr sz="1120" b="1">
                <a:solidFill>
                  <a:srgbClr val="376D7C"/>
                </a:solidFill>
                <a:latin typeface="Arial"/>
              </a:rPr>
              <a:t>ASK</a:t>
            </a:r>
          </a:p>
        </p:txBody>
      </p:sp>
      <p:sp>
        <p:nvSpPr>
          <p:cNvPr id="23" name="TextBox 22"/>
          <p:cNvSpPr txBox="1"/>
          <p:nvPr/>
        </p:nvSpPr>
        <p:spPr>
          <a:xfrm>
            <a:off x="2286000" y="4087368"/>
            <a:ext cx="5440680" cy="566928"/>
          </a:xfrm>
          <a:prstGeom prst="rect">
            <a:avLst/>
          </a:prstGeom>
          <a:noFill/>
        </p:spPr>
        <p:txBody>
          <a:bodyPr wrap="square" lIns="18288" rIns="18288" tIns="18288" bIns="18288" anchor="t">
            <a:spAutoFit/>
          </a:bodyPr>
          <a:lstStyle/>
          <a:p>
            <a:pPr algn="l">
              <a:lnSpc>
                <a:spcPct val="104000"/>
              </a:lnSpc>
              <a:spcAft>
                <a:spcPts val="0"/>
              </a:spcAft>
            </a:pPr>
            <a:r>
              <a:rPr sz="1600" b="1">
                <a:solidFill>
                  <a:srgbClr val="281913"/>
                </a:solidFill>
                <a:latin typeface="Arial"/>
              </a:rPr>
              <a:t>Community host, benefits adviser and privacy mentor.</a:t>
            </a:r>
          </a:p>
        </p:txBody>
      </p:sp>
      <p:sp>
        <p:nvSpPr>
          <p:cNvPr id="24" name="TextBox 23"/>
          <p:cNvSpPr txBox="1"/>
          <p:nvPr/>
        </p:nvSpPr>
        <p:spPr>
          <a:xfrm>
            <a:off x="713232" y="5230368"/>
            <a:ext cx="7269480" cy="749808"/>
          </a:xfrm>
          <a:prstGeom prst="rect">
            <a:avLst/>
          </a:prstGeom>
          <a:noFill/>
        </p:spPr>
        <p:txBody>
          <a:bodyPr wrap="square" lIns="18288" rIns="18288" tIns="18288" bIns="18288" anchor="t">
            <a:spAutoFit/>
          </a:bodyPr>
          <a:lstStyle/>
          <a:p>
            <a:pPr algn="l">
              <a:lnSpc>
                <a:spcPct val="104000"/>
              </a:lnSpc>
              <a:spcAft>
                <a:spcPts val="0"/>
              </a:spcAft>
            </a:pPr>
            <a:r>
              <a:rPr sz="2300" b="1">
                <a:solidFill>
                  <a:srgbClr val="BC4D1A"/>
                </a:solidFill>
                <a:latin typeface="Arial"/>
              </a:rPr>
              <a:t>One loss should not mean starting over at every counter.</a:t>
            </a:r>
          </a:p>
        </p:txBody>
      </p:sp>
      <p:pic>
        <p:nvPicPr>
          <p:cNvPr id="25" name="Picture 24" descr="mark.png"/>
          <p:cNvPicPr>
            <a:picLocks noChangeAspect="1"/>
          </p:cNvPicPr>
          <p:nvPr/>
        </p:nvPicPr>
        <p:blipFill>
          <a:blip r:embed="rId3"/>
          <a:stretch>
            <a:fillRect/>
          </a:stretch>
        </p:blipFill>
        <p:spPr>
          <a:xfrm>
            <a:off x="9006840" y="2432304"/>
            <a:ext cx="1627632" cy="1627632"/>
          </a:xfrm>
          <a:prstGeom prst="rect">
            <a:avLst/>
          </a:prstGeom>
        </p:spPr>
      </p:pic>
      <p:sp>
        <p:nvSpPr>
          <p:cNvPr id="26" name="TextBox 25"/>
          <p:cNvSpPr txBox="1"/>
          <p:nvPr/>
        </p:nvSpPr>
        <p:spPr>
          <a:xfrm>
            <a:off x="8302752" y="4343400"/>
            <a:ext cx="3017520" cy="411480"/>
          </a:xfrm>
          <a:prstGeom prst="rect">
            <a:avLst/>
          </a:prstGeom>
          <a:noFill/>
        </p:spPr>
        <p:txBody>
          <a:bodyPr wrap="square" lIns="18288" rIns="18288" tIns="18288" bIns="18288" anchor="t">
            <a:spAutoFit/>
          </a:bodyPr>
          <a:lstStyle/>
          <a:p>
            <a:pPr algn="ctr">
              <a:lnSpc>
                <a:spcPct val="104000"/>
              </a:lnSpc>
              <a:spcAft>
                <a:spcPts val="0"/>
              </a:spcAft>
            </a:pPr>
            <a:r>
              <a:rPr sz="2500" b="1">
                <a:solidFill>
                  <a:srgbClr val="281913"/>
                </a:solidFill>
                <a:latin typeface="Arial"/>
              </a:rPr>
              <a:t>MyTakziah</a:t>
            </a:r>
          </a:p>
        </p:txBody>
      </p:sp>
      <p:sp>
        <p:nvSpPr>
          <p:cNvPr id="27" name="TextBox 26"/>
          <p:cNvSpPr txBox="1"/>
          <p:nvPr/>
        </p:nvSpPr>
        <p:spPr>
          <a:xfrm>
            <a:off x="8339327" y="4928616"/>
            <a:ext cx="2926080" cy="457200"/>
          </a:xfrm>
          <a:prstGeom prst="rect">
            <a:avLst/>
          </a:prstGeom>
          <a:noFill/>
        </p:spPr>
        <p:txBody>
          <a:bodyPr wrap="square" lIns="18288" rIns="18288" tIns="18288" bIns="18288" anchor="t">
            <a:spAutoFit/>
          </a:bodyPr>
          <a:lstStyle/>
          <a:p>
            <a:pPr algn="ctr">
              <a:lnSpc>
                <a:spcPct val="104000"/>
              </a:lnSpc>
              <a:spcAft>
                <a:spcPts val="0"/>
              </a:spcAft>
            </a:pPr>
            <a:r>
              <a:rPr sz="1200" b="0">
                <a:solidFill>
                  <a:srgbClr val="6E635C"/>
                </a:solidFill>
                <a:latin typeface="Arial"/>
              </a:rPr>
              <a:t>One family record. Clearer next steps.</a:t>
            </a:r>
          </a:p>
        </p:txBody>
      </p:sp>
      <p:sp>
        <p:nvSpPr>
          <p:cNvPr id="28" name="TextBox 27"/>
          <p:cNvSpPr txBox="1"/>
          <p:nvPr/>
        </p:nvSpPr>
        <p:spPr>
          <a:xfrm>
            <a:off x="685800" y="6245352"/>
            <a:ext cx="10561320" cy="201168"/>
          </a:xfrm>
          <a:prstGeom prst="rect">
            <a:avLst/>
          </a:prstGeom>
          <a:noFill/>
        </p:spPr>
        <p:txBody>
          <a:bodyPr wrap="square" lIns="18288" rIns="18288" tIns="18288" bIns="18288" anchor="t">
            <a:spAutoFit/>
          </a:bodyPr>
          <a:lstStyle/>
          <a:p>
            <a:pPr algn="l">
              <a:lnSpc>
                <a:spcPct val="104000"/>
              </a:lnSpc>
              <a:spcAft>
                <a:spcPts val="0"/>
              </a:spcAft>
            </a:pPr>
            <a:r>
              <a:rPr sz="900" b="0">
                <a:solidFill>
                  <a:srgbClr val="6E635C"/>
                </a:solidFill>
                <a:latin typeface="Arial"/>
              </a:rPr>
              <a:t>Team composition and Layak experience are team-supplied records. No pilot partner is secured.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16</TotalTime>
  <Words>880</Words>
  <Application>Microsoft Office PowerPoint</Application>
  <PresentationFormat>Widescreen</PresentationFormat>
  <Paragraphs>121</Paragraphs>
  <Slides>11</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MyTakziah Final Pitch</dc:title>
  <dc:subject>URIIS Student Biz Innov Challenge 2026 Grand Final</dc:subject>
  <dc:creator>Team Survive</dc:creator>
  <cp:keywords/>
  <dc:description>generated using python-pptx</dc:description>
  <cp:lastModifiedBy>Susilan Kesavan</cp:lastModifiedBy>
  <cp:revision>3</cp:revision>
  <dcterms:created xsi:type="dcterms:W3CDTF">2013-01-27T09:14:16Z</dcterms:created>
  <dcterms:modified xsi:type="dcterms:W3CDTF">2026-09-04T10:47:10Z</dcterms:modified>
  <cp:category/>
</cp:coreProperties>
</file>