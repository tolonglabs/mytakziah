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SECONDS. Do not read the slide.</a:t>
            </a:r>
          </a:p>
          <a:p/>
          <a:p>
            <a:r>
              <a:t>"Good afternoon. We are Team Survive, and this is MyTakziah.</a:t>
            </a:r>
          </a:p>
          <a:p>
            <a:r>
              <a:t>When someone dies in Malaysia, the family has to tell the government the same thing over and over. MyTakziah lets them tell it once."</a:t>
            </a:r>
          </a:p>
          <a:p/>
          <a:p>
            <a:r>
              <a:t>Point at the QR: "That code takes you to our working prototype, and we have printed it for each of you."</a:t>
            </a:r>
          </a:p>
          <a:p/>
          <a:p>
            <a:r>
              <a:t>Then move on. Do not introduce all four names one by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 This slide earns the room. Slow down.</a:t>
            </a:r>
          </a:p>
          <a:p/>
          <a:p>
            <a:r>
              <a:t>"A father dies. The family goes to JPN to register the death. Then to PERKESO. Then to KWSP. Three agencies, three forms, and every one of them asks for the same five things.</a:t>
            </a:r>
          </a:p>
          <a:p/>
          <a:p>
            <a:r>
              <a:t>The government already knows he died. The family told one part of it. It just did not tell the other two.</a:t>
            </a:r>
          </a:p>
          <a:p/>
          <a:p>
            <a:r>
              <a:t>Two hundred thousand deaths a year, and the person holding the folder is usually a widow in her late sixties.</a:t>
            </a:r>
          </a:p>
          <a:p/>
          <a:p>
            <a:r>
              <a:t>And the clock is running. EPF gives you six months or the RM2,500 is gone. JPN's boundary is the seventh day. PERKESO does not publish its deadline at all.</a:t>
            </a:r>
          </a:p>
          <a:p/>
          <a:p>
            <a:r>
              <a:t>This is not us guessing. Parliament counted 72,929 late registrations and blamed funeral rites. They extended one deadline at one agency. They never touched the journey."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 Hold up the printed QR card as you start.</a:t>
            </a:r>
          </a:p>
          <a:p/>
          <a:p>
            <a:r>
              <a:t>"So here is what we built.</a:t>
            </a:r>
          </a:p>
          <a:p/>
          <a:p>
            <a:r>
              <a:t>The family gives us the information once. Who died, who they are, how they are related, where the money should go.</a:t>
            </a:r>
          </a:p>
          <a:p/>
          <a:p>
            <a:r>
              <a:t>We then show every benefit they are owed, with the government's own rule printed next to it, ranked by whichever deadline runs out first.</a:t>
            </a:r>
          </a:p>
          <a:p/>
          <a:p>
            <a:r>
              <a:t>And then we fill in all three claims for them.</a:t>
            </a:r>
          </a:p>
          <a:p/>
          <a:p>
            <a:r>
              <a:t>One line matters more than everything else on this slide. We never say approved. The agency always decides. We prepare and we file. That is what makes this safe to put in front of a grieving family."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 This is the slide that separates you from the field.</a:t>
            </a:r>
          </a:p>
          <a:p/>
          <a:p>
            <a:r>
              <a:t>"Every judge is going to think this is a chatbot. It is not.</a:t>
            </a:r>
          </a:p>
          <a:p/>
          <a:p>
            <a:r>
              <a:t>JPN already has a chatbot. It is live on their website and it answers JPN questions well. It still cannot tell KWSP anything. A chatbot tells you what to do. We do it.</a:t>
            </a:r>
          </a:p>
          <a:p/>
          <a:p>
            <a:r>
              <a:t>Second, we lead with the deadline, not the money, and every rule we show cites the government page it came from. Where an agency publishes nothing, we say so.</a:t>
            </a:r>
          </a:p>
          <a:p/>
          <a:p>
            <a:r>
              <a:t>Third, and this is the part people underestimate, the rites matter. A Muslim family, a Chinese family and a Hindu family do not face the same week. The system follows the family.</a:t>
            </a:r>
          </a:p>
          <a:p/>
          <a:p>
            <a:r>
              <a:t>Our edge is not AI. Everyone has AI. Our edge is that we actually read the forms."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SECONDS. Feasibility is scored. Honesty wins it.</a:t>
            </a:r>
          </a:p>
          <a:p/>
          <a:p>
            <a:r>
              <a:t>"This is not a concept. The prototype is live right now and you can scan it from your seat.</a:t>
            </a:r>
          </a:p>
          <a:p/>
          <a:p>
            <a:r>
              <a:t>We are also not asking the country to build anything new. MyDigital ID already has nearly ten million accounts. MyGDX already moves data between eighty one agencies. The rails exist. The bereavement path was just never built on them.</a:t>
            </a:r>
          </a:p>
          <a:p/>
          <a:p>
            <a:r>
              <a:t>Now, the honest part. We do not have agency integration yet. It is proposed, not proven.</a:t>
            </a:r>
          </a:p>
          <a:p/>
          <a:p>
            <a:r>
              <a:t>But even if no agency ever signs, we print the forms and the family carries them. They still know the benefits exist, they still know which deadline is first, and they still arrive with the right documents. Those three things are what actually cost families money."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 Economic impact is a scored category. Be concrete.</a:t>
            </a:r>
          </a:p>
          <a:p/>
          <a:p>
            <a:r>
              <a:t>"Three groups benefit, and that is what makes this a business and not a charity.</a:t>
            </a:r>
          </a:p>
          <a:p/>
          <a:p>
            <a:r>
              <a:t>Families use it free, always. They are the least able to pay and the worst possible people to charge.</a:t>
            </a:r>
          </a:p>
          <a:p/>
          <a:p>
            <a:r>
              <a:t>Government gets submissions that are complete and on time. That is fewer rejected forms and fewer people queueing twice.</a:t>
            </a:r>
          </a:p>
          <a:p/>
          <a:p>
            <a:r>
              <a:t>And the third group pays. Funeral homes, memorial parks and estate services are already spending money to reach these families. We put them in front of the family at the moment of need, with the family's consent, and that funds the platform.</a:t>
            </a:r>
          </a:p>
          <a:p/>
          <a:p>
            <a:r>
              <a:t>The money is already moving. Three point two four billion ringgit of EPF death withdrawals in 2024 alone."</a:t>
            </a:r>
          </a:p>
          <a:p/>
          <a:p>
            <a:r>
              <a:t>IF ASKED FOR RATES: say the model is a listing and referral fee and that we are testing pricing in the pilot. Do not invent a number.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Land it, then stop talking.</a:t>
            </a:r>
          </a:p>
          <a:p/>
          <a:p>
            <a:r>
              <a:t>"Why us. We are two computer science students and two actuarial science students. The rules and the deadlines behind this are actuarial work, and we did it ourselves.</a:t>
            </a:r>
          </a:p>
          <a:p/>
          <a:p>
            <a:r>
              <a:t>Every number you have seen today is checked against the government's own documents. Where we could not verify something, we took it off the slide.</a:t>
            </a:r>
          </a:p>
          <a:p/>
          <a:p>
            <a:r>
              <a:t>And what we are asking for is not mainly money. It is access. One community to pilot with, and introductions to service providers. Give us that and we will have real families using this within a month.</a:t>
            </a:r>
          </a:p>
          <a:p/>
          <a:p>
            <a:r>
              <a:t>One death. Told to government once. Thank you."</a:t>
            </a:r>
          </a:p>
          <a:p/>
          <a:p>
            <a:r>
              <a:t>Then stop. Do not keep talking into the Q and 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riis.png"/>
          <p:cNvPicPr>
            <a:picLocks noChangeAspect="1"/>
          </p:cNvPicPr>
          <p:nvPr/>
        </p:nvPicPr>
        <p:blipFill>
          <a:blip r:embed="rId2"/>
          <a:stretch>
            <a:fillRect/>
          </a:stretch>
        </p:blipFill>
        <p:spPr>
          <a:xfrm>
            <a:off x="731520" y="347472"/>
            <a:ext cx="804672" cy="804672"/>
          </a:xfrm>
          <a:prstGeom prst="rect">
            <a:avLst/>
          </a:prstGeom>
        </p:spPr>
      </p:pic>
      <p:sp>
        <p:nvSpPr>
          <p:cNvPr id="3" name="TextBox 2"/>
          <p:cNvSpPr txBox="1"/>
          <p:nvPr/>
        </p:nvSpPr>
        <p:spPr>
          <a:xfrm>
            <a:off x="1691640" y="640080"/>
            <a:ext cx="4754880" cy="274320"/>
          </a:xfrm>
          <a:prstGeom prst="rect">
            <a:avLst/>
          </a:prstGeom>
          <a:noFill/>
        </p:spPr>
        <p:txBody>
          <a:bodyPr wrap="square" anchor="t" lIns="0" rIns="0" tIns="0" bIns="0">
            <a:spAutoFit/>
          </a:bodyPr>
          <a:lstStyle/>
          <a:p>
            <a:pPr algn="l">
              <a:spcBef>
                <a:spcPts val="0"/>
              </a:spcBef>
              <a:spcAft>
                <a:spcPts val="0"/>
              </a:spcAft>
            </a:pPr>
            <a:r>
              <a:rPr sz="1150" b="1">
                <a:solidFill>
                  <a:srgbClr val="6E635C"/>
                </a:solidFill>
                <a:latin typeface="Arial"/>
              </a:rPr>
              <a:t>STUDENT BIZ INNOV CHALLENGE 2026</a:t>
            </a:r>
          </a:p>
        </p:txBody>
      </p:sp>
      <p:sp>
        <p:nvSpPr>
          <p:cNvPr id="4" name="TextBox 3"/>
          <p:cNvSpPr txBox="1"/>
          <p:nvPr/>
        </p:nvSpPr>
        <p:spPr>
          <a:xfrm>
            <a:off x="8732520" y="640080"/>
            <a:ext cx="1828800" cy="274320"/>
          </a:xfrm>
          <a:prstGeom prst="rect">
            <a:avLst/>
          </a:prstGeom>
          <a:noFill/>
        </p:spPr>
        <p:txBody>
          <a:bodyPr wrap="square" anchor="t" lIns="0" rIns="0" tIns="0" bIns="0">
            <a:spAutoFit/>
          </a:bodyPr>
          <a:lstStyle/>
          <a:p>
            <a:pPr algn="r">
              <a:spcBef>
                <a:spcPts val="0"/>
              </a:spcBef>
              <a:spcAft>
                <a:spcPts val="0"/>
              </a:spcAft>
            </a:pPr>
            <a:r>
              <a:rPr sz="1150" b="1">
                <a:solidFill>
                  <a:srgbClr val="6E635C"/>
                </a:solidFill>
                <a:latin typeface="Arial"/>
              </a:rPr>
              <a:t>ORGANISED BY</a:t>
            </a:r>
          </a:p>
        </p:txBody>
      </p:sp>
      <p:pic>
        <p:nvPicPr>
          <p:cNvPr id="5" name="Picture 4" descr="kolaxus.png"/>
          <p:cNvPicPr>
            <a:picLocks noChangeAspect="1"/>
          </p:cNvPicPr>
          <p:nvPr/>
        </p:nvPicPr>
        <p:blipFill>
          <a:blip r:embed="rId3"/>
          <a:stretch>
            <a:fillRect/>
          </a:stretch>
        </p:blipFill>
        <p:spPr>
          <a:xfrm>
            <a:off x="10716768" y="566928"/>
            <a:ext cx="578358" cy="329184"/>
          </a:xfrm>
          <a:prstGeom prst="rect">
            <a:avLst/>
          </a:prstGeom>
        </p:spPr>
      </p:pic>
      <p:pic>
        <p:nvPicPr>
          <p:cNvPr id="6" name="Picture 5" descr="mark.png"/>
          <p:cNvPicPr>
            <a:picLocks noChangeAspect="1"/>
          </p:cNvPicPr>
          <p:nvPr/>
        </p:nvPicPr>
        <p:blipFill>
          <a:blip r:embed="rId4"/>
          <a:stretch>
            <a:fillRect/>
          </a:stretch>
        </p:blipFill>
        <p:spPr>
          <a:xfrm>
            <a:off x="731520" y="1444752"/>
            <a:ext cx="896112" cy="896112"/>
          </a:xfrm>
          <a:prstGeom prst="rect">
            <a:avLst/>
          </a:prstGeom>
        </p:spPr>
      </p:pic>
      <p:sp>
        <p:nvSpPr>
          <p:cNvPr id="7" name="TextBox 6"/>
          <p:cNvSpPr txBox="1"/>
          <p:nvPr/>
        </p:nvSpPr>
        <p:spPr>
          <a:xfrm>
            <a:off x="1810512" y="1389888"/>
            <a:ext cx="7315200" cy="1051560"/>
          </a:xfrm>
          <a:prstGeom prst="rect">
            <a:avLst/>
          </a:prstGeom>
          <a:noFill/>
        </p:spPr>
        <p:txBody>
          <a:bodyPr wrap="square" anchor="t" lIns="0" rIns="0" tIns="0" bIns="0">
            <a:spAutoFit/>
          </a:bodyPr>
          <a:lstStyle/>
          <a:p>
            <a:pPr algn="l">
              <a:spcBef>
                <a:spcPts val="0"/>
              </a:spcBef>
              <a:spcAft>
                <a:spcPts val="0"/>
              </a:spcAft>
            </a:pPr>
            <a:r>
              <a:rPr sz="6200" b="1">
                <a:solidFill>
                  <a:srgbClr val="281913"/>
                </a:solidFill>
                <a:latin typeface="Arial"/>
              </a:rPr>
              <a:t>MyTakziah</a:t>
            </a:r>
          </a:p>
        </p:txBody>
      </p:sp>
      <p:sp>
        <p:nvSpPr>
          <p:cNvPr id="8" name="Rectangle 7"/>
          <p:cNvSpPr/>
          <p:nvPr/>
        </p:nvSpPr>
        <p:spPr>
          <a:xfrm>
            <a:off x="731520" y="2670048"/>
            <a:ext cx="1554480" cy="39319"/>
          </a:xfrm>
          <a:prstGeom prst="rect">
            <a:avLst/>
          </a:prstGeom>
          <a:solidFill>
            <a:srgbClr val="BC4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926080"/>
            <a:ext cx="7863840" cy="548640"/>
          </a:xfrm>
          <a:prstGeom prst="rect">
            <a:avLst/>
          </a:prstGeom>
          <a:noFill/>
        </p:spPr>
        <p:txBody>
          <a:bodyPr wrap="square" anchor="t" lIns="0" rIns="0" tIns="0" bIns="0">
            <a:spAutoFit/>
          </a:bodyPr>
          <a:lstStyle/>
          <a:p>
            <a:pPr algn="l">
              <a:spcBef>
                <a:spcPts val="0"/>
              </a:spcBef>
              <a:spcAft>
                <a:spcPts val="0"/>
              </a:spcAft>
            </a:pPr>
            <a:r>
              <a:rPr sz="2600" b="1">
                <a:solidFill>
                  <a:srgbClr val="BC4D1A"/>
                </a:solidFill>
                <a:latin typeface="Arial"/>
              </a:rPr>
              <a:t>One death. Told to government once.</a:t>
            </a:r>
          </a:p>
        </p:txBody>
      </p:sp>
      <p:sp>
        <p:nvSpPr>
          <p:cNvPr id="10" name="TextBox 9"/>
          <p:cNvSpPr txBox="1"/>
          <p:nvPr/>
        </p:nvSpPr>
        <p:spPr>
          <a:xfrm>
            <a:off x="731520" y="3584448"/>
            <a:ext cx="6858000" cy="822960"/>
          </a:xfrm>
          <a:prstGeom prst="rect">
            <a:avLst/>
          </a:prstGeom>
          <a:noFill/>
        </p:spPr>
        <p:txBody>
          <a:bodyPr wrap="square" anchor="t" lIns="0" rIns="0" tIns="0" bIns="0">
            <a:spAutoFit/>
          </a:bodyPr>
          <a:lstStyle/>
          <a:p>
            <a:pPr algn="l">
              <a:lnSpc>
                <a:spcPct val="135000"/>
              </a:lnSpc>
              <a:spcBef>
                <a:spcPts val="0"/>
              </a:spcBef>
              <a:spcAft>
                <a:spcPts val="0"/>
              </a:spcAft>
            </a:pPr>
            <a:r>
              <a:rPr sz="1500" b="0">
                <a:solidFill>
                  <a:srgbClr val="6E635C"/>
                </a:solidFill>
                <a:latin typeface="Arial"/>
              </a:rPr>
              <a:t>An AI that, after a death, reads a family's documents once and files their JPN, KWSP and PERKESO claims for them.</a:t>
            </a:r>
          </a:p>
        </p:txBody>
      </p:sp>
      <p:pic>
        <p:nvPicPr>
          <p:cNvPr id="11" name="Picture 10" descr="qr-logo.png"/>
          <p:cNvPicPr>
            <a:picLocks noChangeAspect="1"/>
          </p:cNvPicPr>
          <p:nvPr/>
        </p:nvPicPr>
        <p:blipFill>
          <a:blip r:embed="rId5"/>
          <a:stretch>
            <a:fillRect/>
          </a:stretch>
        </p:blipFill>
        <p:spPr>
          <a:xfrm>
            <a:off x="9281160" y="2578608"/>
            <a:ext cx="2176272" cy="2176272"/>
          </a:xfrm>
          <a:prstGeom prst="rect">
            <a:avLst/>
          </a:prstGeom>
        </p:spPr>
      </p:pic>
      <p:sp>
        <p:nvSpPr>
          <p:cNvPr id="12" name="TextBox 11"/>
          <p:cNvSpPr txBox="1"/>
          <p:nvPr/>
        </p:nvSpPr>
        <p:spPr>
          <a:xfrm>
            <a:off x="9098280" y="4809744"/>
            <a:ext cx="2542032" cy="365760"/>
          </a:xfrm>
          <a:prstGeom prst="rect">
            <a:avLst/>
          </a:prstGeom>
          <a:noFill/>
        </p:spPr>
        <p:txBody>
          <a:bodyPr wrap="square" anchor="t" lIns="0" rIns="0" tIns="0" bIns="0">
            <a:spAutoFit/>
          </a:bodyPr>
          <a:lstStyle/>
          <a:p>
            <a:pPr algn="ctr">
              <a:lnSpc>
                <a:spcPct val="130000"/>
              </a:lnSpc>
              <a:spcBef>
                <a:spcPts val="0"/>
              </a:spcBef>
              <a:spcAft>
                <a:spcPts val="0"/>
              </a:spcAft>
            </a:pPr>
            <a:r>
              <a:rPr sz="1100" b="0">
                <a:solidFill>
                  <a:srgbClr val="6E635C"/>
                </a:solidFill>
                <a:latin typeface="Arial"/>
              </a:rPr>
              <a:t>Scan for the working prototype</a:t>
            </a:r>
          </a:p>
        </p:txBody>
      </p:sp>
      <p:sp>
        <p:nvSpPr>
          <p:cNvPr id="13" name="Rectangle 12"/>
          <p:cNvSpPr/>
          <p:nvPr/>
        </p:nvSpPr>
        <p:spPr>
          <a:xfrm>
            <a:off x="731520" y="5138928"/>
            <a:ext cx="10728655" cy="10972"/>
          </a:xfrm>
          <a:prstGeom prst="rect">
            <a:avLst/>
          </a:prstGeom>
          <a:solidFill>
            <a:srgbClr val="DCD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ound-anderson-ling.png"/>
          <p:cNvPicPr>
            <a:picLocks noChangeAspect="1"/>
          </p:cNvPicPr>
          <p:nvPr/>
        </p:nvPicPr>
        <p:blipFill>
          <a:blip r:embed="rId6"/>
          <a:stretch>
            <a:fillRect/>
          </a:stretch>
        </p:blipFill>
        <p:spPr>
          <a:xfrm>
            <a:off x="731520" y="5376672"/>
            <a:ext cx="603504" cy="603504"/>
          </a:xfrm>
          <a:prstGeom prst="rect">
            <a:avLst/>
          </a:prstGeom>
        </p:spPr>
      </p:pic>
      <p:sp>
        <p:nvSpPr>
          <p:cNvPr id="15" name="TextBox 14"/>
          <p:cNvSpPr txBox="1"/>
          <p:nvPr/>
        </p:nvSpPr>
        <p:spPr>
          <a:xfrm>
            <a:off x="1463040" y="5376672"/>
            <a:ext cx="2011680" cy="731520"/>
          </a:xfrm>
          <a:prstGeom prst="rect">
            <a:avLst/>
          </a:prstGeom>
          <a:noFill/>
        </p:spPr>
        <p:txBody>
          <a:bodyPr wrap="square" anchor="t" lIns="0" rIns="0" tIns="0" bIns="0">
            <a:spAutoFit/>
          </a:bodyPr>
          <a:lstStyle/>
          <a:p>
            <a:pPr algn="l">
              <a:spcBef>
                <a:spcPts val="0"/>
              </a:spcBef>
              <a:spcAft>
                <a:spcPts val="0"/>
              </a:spcAft>
            </a:pPr>
            <a:r>
              <a:rPr sz="1300" b="1">
                <a:solidFill>
                  <a:srgbClr val="281913"/>
                </a:solidFill>
                <a:latin typeface="Arial"/>
              </a:rPr>
              <a:t>Anderson Ling</a:t>
            </a:r>
          </a:p>
          <a:p>
            <a:pPr algn="l">
              <a:lnSpc>
                <a:spcPct val="125000"/>
              </a:lnSpc>
              <a:spcBef>
                <a:spcPts val="300"/>
              </a:spcBef>
              <a:spcAft>
                <a:spcPts val="0"/>
              </a:spcAft>
            </a:pPr>
            <a:r>
              <a:rPr sz="1000" b="0">
                <a:solidFill>
                  <a:srgbClr val="6E635C"/>
                </a:solidFill>
                <a:latin typeface="Arial"/>
              </a:rPr>
              <a:t>Team Leader</a:t>
            </a:r>
          </a:p>
          <a:p>
            <a:pPr algn="l">
              <a:lnSpc>
                <a:spcPct val="125000"/>
              </a:lnSpc>
              <a:spcBef>
                <a:spcPts val="0"/>
              </a:spcBef>
              <a:spcAft>
                <a:spcPts val="0"/>
              </a:spcAft>
            </a:pPr>
            <a:r>
              <a:rPr sz="1000" b="0">
                <a:solidFill>
                  <a:srgbClr val="6E635C"/>
                </a:solidFill>
                <a:latin typeface="Arial"/>
              </a:rPr>
              <a:t>Universiti Malaya</a:t>
            </a:r>
          </a:p>
        </p:txBody>
      </p:sp>
      <p:pic>
        <p:nvPicPr>
          <p:cNvPr id="16" name="Picture 15" descr="round-hee-zi-jie.png"/>
          <p:cNvPicPr>
            <a:picLocks noChangeAspect="1"/>
          </p:cNvPicPr>
          <p:nvPr/>
        </p:nvPicPr>
        <p:blipFill>
          <a:blip r:embed="rId7"/>
          <a:stretch>
            <a:fillRect/>
          </a:stretch>
        </p:blipFill>
        <p:spPr>
          <a:xfrm>
            <a:off x="3493008" y="5376672"/>
            <a:ext cx="603504" cy="603504"/>
          </a:xfrm>
          <a:prstGeom prst="rect">
            <a:avLst/>
          </a:prstGeom>
        </p:spPr>
      </p:pic>
      <p:sp>
        <p:nvSpPr>
          <p:cNvPr id="17" name="TextBox 16"/>
          <p:cNvSpPr txBox="1"/>
          <p:nvPr/>
        </p:nvSpPr>
        <p:spPr>
          <a:xfrm>
            <a:off x="4224528" y="5376672"/>
            <a:ext cx="2011680" cy="731520"/>
          </a:xfrm>
          <a:prstGeom prst="rect">
            <a:avLst/>
          </a:prstGeom>
          <a:noFill/>
        </p:spPr>
        <p:txBody>
          <a:bodyPr wrap="square" anchor="t" lIns="0" rIns="0" tIns="0" bIns="0">
            <a:spAutoFit/>
          </a:bodyPr>
          <a:lstStyle/>
          <a:p>
            <a:pPr algn="l">
              <a:spcBef>
                <a:spcPts val="0"/>
              </a:spcBef>
              <a:spcAft>
                <a:spcPts val="0"/>
              </a:spcAft>
            </a:pPr>
            <a:r>
              <a:rPr sz="1300" b="1">
                <a:solidFill>
                  <a:srgbClr val="281913"/>
                </a:solidFill>
                <a:latin typeface="Arial"/>
              </a:rPr>
              <a:t>Hee Zi Jie</a:t>
            </a:r>
          </a:p>
          <a:p>
            <a:pPr algn="l">
              <a:lnSpc>
                <a:spcPct val="125000"/>
              </a:lnSpc>
              <a:spcBef>
                <a:spcPts val="300"/>
              </a:spcBef>
              <a:spcAft>
                <a:spcPts val="0"/>
              </a:spcAft>
            </a:pPr>
            <a:r>
              <a:rPr sz="1000" b="0">
                <a:solidFill>
                  <a:srgbClr val="6E635C"/>
                </a:solidFill>
                <a:latin typeface="Arial"/>
              </a:rPr>
              <a:t>Software Development</a:t>
            </a:r>
          </a:p>
          <a:p>
            <a:pPr algn="l">
              <a:lnSpc>
                <a:spcPct val="125000"/>
              </a:lnSpc>
              <a:spcBef>
                <a:spcPts val="0"/>
              </a:spcBef>
              <a:spcAft>
                <a:spcPts val="0"/>
              </a:spcAft>
            </a:pPr>
            <a:r>
              <a:rPr sz="1000" b="0">
                <a:solidFill>
                  <a:srgbClr val="6E635C"/>
                </a:solidFill>
                <a:latin typeface="Arial"/>
              </a:rPr>
              <a:t>Asia Pacific University</a:t>
            </a:r>
          </a:p>
        </p:txBody>
      </p:sp>
      <p:pic>
        <p:nvPicPr>
          <p:cNvPr id="18" name="Picture 17" descr="round-wong-xuan-rui.png"/>
          <p:cNvPicPr>
            <a:picLocks noChangeAspect="1"/>
          </p:cNvPicPr>
          <p:nvPr/>
        </p:nvPicPr>
        <p:blipFill>
          <a:blip r:embed="rId8"/>
          <a:stretch>
            <a:fillRect/>
          </a:stretch>
        </p:blipFill>
        <p:spPr>
          <a:xfrm>
            <a:off x="6254496" y="5376672"/>
            <a:ext cx="603504" cy="603504"/>
          </a:xfrm>
          <a:prstGeom prst="rect">
            <a:avLst/>
          </a:prstGeom>
        </p:spPr>
      </p:pic>
      <p:sp>
        <p:nvSpPr>
          <p:cNvPr id="19" name="TextBox 18"/>
          <p:cNvSpPr txBox="1"/>
          <p:nvPr/>
        </p:nvSpPr>
        <p:spPr>
          <a:xfrm>
            <a:off x="6986016" y="5376672"/>
            <a:ext cx="2011680" cy="731520"/>
          </a:xfrm>
          <a:prstGeom prst="rect">
            <a:avLst/>
          </a:prstGeom>
          <a:noFill/>
        </p:spPr>
        <p:txBody>
          <a:bodyPr wrap="square" anchor="t" lIns="0" rIns="0" tIns="0" bIns="0">
            <a:spAutoFit/>
          </a:bodyPr>
          <a:lstStyle/>
          <a:p>
            <a:pPr algn="l">
              <a:spcBef>
                <a:spcPts val="0"/>
              </a:spcBef>
              <a:spcAft>
                <a:spcPts val="0"/>
              </a:spcAft>
            </a:pPr>
            <a:r>
              <a:rPr sz="1300" b="1">
                <a:solidFill>
                  <a:srgbClr val="281913"/>
                </a:solidFill>
                <a:latin typeface="Arial"/>
              </a:rPr>
              <a:t>Wong Xuan Rui</a:t>
            </a:r>
          </a:p>
          <a:p>
            <a:pPr algn="l">
              <a:lnSpc>
                <a:spcPct val="125000"/>
              </a:lnSpc>
              <a:spcBef>
                <a:spcPts val="300"/>
              </a:spcBef>
              <a:spcAft>
                <a:spcPts val="0"/>
              </a:spcAft>
            </a:pPr>
            <a:r>
              <a:rPr sz="1000" b="0">
                <a:solidFill>
                  <a:srgbClr val="6E635C"/>
                </a:solidFill>
                <a:latin typeface="Arial"/>
              </a:rPr>
              <a:t>Designer</a:t>
            </a:r>
          </a:p>
          <a:p>
            <a:pPr algn="l">
              <a:lnSpc>
                <a:spcPct val="125000"/>
              </a:lnSpc>
              <a:spcBef>
                <a:spcPts val="0"/>
              </a:spcBef>
              <a:spcAft>
                <a:spcPts val="0"/>
              </a:spcAft>
            </a:pPr>
            <a:r>
              <a:rPr sz="1000" b="0">
                <a:solidFill>
                  <a:srgbClr val="6E635C"/>
                </a:solidFill>
                <a:latin typeface="Arial"/>
              </a:rPr>
              <a:t>Universiti Malaya</a:t>
            </a:r>
          </a:p>
        </p:txBody>
      </p:sp>
      <p:pic>
        <p:nvPicPr>
          <p:cNvPr id="20" name="Picture 19" descr="round-yow-li-hao.png"/>
          <p:cNvPicPr>
            <a:picLocks noChangeAspect="1"/>
          </p:cNvPicPr>
          <p:nvPr/>
        </p:nvPicPr>
        <p:blipFill>
          <a:blip r:embed="rId9"/>
          <a:stretch>
            <a:fillRect/>
          </a:stretch>
        </p:blipFill>
        <p:spPr>
          <a:xfrm>
            <a:off x="9015984" y="5376672"/>
            <a:ext cx="603504" cy="603504"/>
          </a:xfrm>
          <a:prstGeom prst="rect">
            <a:avLst/>
          </a:prstGeom>
        </p:spPr>
      </p:pic>
      <p:sp>
        <p:nvSpPr>
          <p:cNvPr id="21" name="TextBox 20"/>
          <p:cNvSpPr txBox="1"/>
          <p:nvPr/>
        </p:nvSpPr>
        <p:spPr>
          <a:xfrm>
            <a:off x="9747504" y="5376672"/>
            <a:ext cx="2011680" cy="731520"/>
          </a:xfrm>
          <a:prstGeom prst="rect">
            <a:avLst/>
          </a:prstGeom>
          <a:noFill/>
        </p:spPr>
        <p:txBody>
          <a:bodyPr wrap="square" anchor="t" lIns="0" rIns="0" tIns="0" bIns="0">
            <a:spAutoFit/>
          </a:bodyPr>
          <a:lstStyle/>
          <a:p>
            <a:pPr algn="l">
              <a:spcBef>
                <a:spcPts val="0"/>
              </a:spcBef>
              <a:spcAft>
                <a:spcPts val="0"/>
              </a:spcAft>
            </a:pPr>
            <a:r>
              <a:rPr sz="1300" b="1">
                <a:solidFill>
                  <a:srgbClr val="281913"/>
                </a:solidFill>
                <a:latin typeface="Arial"/>
              </a:rPr>
              <a:t>Yow Li Hao</a:t>
            </a:r>
          </a:p>
          <a:p>
            <a:pPr algn="l">
              <a:lnSpc>
                <a:spcPct val="125000"/>
              </a:lnSpc>
              <a:spcBef>
                <a:spcPts val="300"/>
              </a:spcBef>
              <a:spcAft>
                <a:spcPts val="0"/>
              </a:spcAft>
            </a:pPr>
            <a:r>
              <a:rPr sz="1000" b="0">
                <a:solidFill>
                  <a:srgbClr val="6E635C"/>
                </a:solidFill>
                <a:latin typeface="Arial"/>
              </a:rPr>
              <a:t>Software Development</a:t>
            </a:r>
          </a:p>
          <a:p>
            <a:pPr algn="l">
              <a:lnSpc>
                <a:spcPct val="125000"/>
              </a:lnSpc>
              <a:spcBef>
                <a:spcPts val="0"/>
              </a:spcBef>
              <a:spcAft>
                <a:spcPts val="0"/>
              </a:spcAft>
            </a:pPr>
            <a:r>
              <a:rPr sz="1000" b="0">
                <a:solidFill>
                  <a:srgbClr val="6E635C"/>
                </a:solidFill>
                <a:latin typeface="Arial"/>
              </a:rPr>
              <a:t>Asia Pacific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20624"/>
            <a:ext cx="7510058" cy="292608"/>
          </a:xfrm>
          <a:prstGeom prst="rect">
            <a:avLst/>
          </a:prstGeom>
          <a:noFill/>
        </p:spPr>
        <p:txBody>
          <a:bodyPr wrap="square" anchor="t" lIns="0" rIns="0" tIns="0" bIns="0">
            <a:spAutoFit/>
          </a:bodyPr>
          <a:lstStyle/>
          <a:p>
            <a:pPr algn="l">
              <a:spcBef>
                <a:spcPts val="0"/>
              </a:spcBef>
              <a:spcAft>
                <a:spcPts val="0"/>
              </a:spcAft>
            </a:pPr>
            <a:r>
              <a:rPr sz="1150" b="1">
                <a:solidFill>
                  <a:srgbClr val="376D7C"/>
                </a:solidFill>
                <a:latin typeface="Arial"/>
              </a:rPr>
              <a:t>1. THE PROBLEM</a:t>
            </a:r>
          </a:p>
        </p:txBody>
      </p:sp>
      <p:sp>
        <p:nvSpPr>
          <p:cNvPr id="3" name="TextBox 2"/>
          <p:cNvSpPr txBox="1"/>
          <p:nvPr/>
        </p:nvSpPr>
        <p:spPr>
          <a:xfrm>
            <a:off x="8241578" y="420624"/>
            <a:ext cx="3218596" cy="292608"/>
          </a:xfrm>
          <a:prstGeom prst="rect">
            <a:avLst/>
          </a:prstGeom>
          <a:noFill/>
        </p:spPr>
        <p:txBody>
          <a:bodyPr wrap="square" anchor="t" lIns="0" rIns="0" tIns="0" bIns="0">
            <a:spAutoFit/>
          </a:bodyPr>
          <a:lstStyle/>
          <a:p>
            <a:pPr algn="r">
              <a:spcBef>
                <a:spcPts val="0"/>
              </a:spcBef>
              <a:spcAft>
                <a:spcPts val="0"/>
              </a:spcAft>
            </a:pPr>
            <a:r>
              <a:rPr sz="1150" b="0">
                <a:solidFill>
                  <a:srgbClr val="6E635C"/>
                </a:solidFill>
                <a:latin typeface="Arial"/>
              </a:rPr>
              <a:t>2 / 7</a:t>
            </a:r>
          </a:p>
        </p:txBody>
      </p:sp>
      <p:sp>
        <p:nvSpPr>
          <p:cNvPr id="4" name="Rectangle 3"/>
          <p:cNvSpPr/>
          <p:nvPr/>
        </p:nvSpPr>
        <p:spPr>
          <a:xfrm>
            <a:off x="731520" y="822960"/>
            <a:ext cx="10728655" cy="10972"/>
          </a:xfrm>
          <a:prstGeom prst="rect">
            <a:avLst/>
          </a:prstGeom>
          <a:solidFill>
            <a:srgbClr val="DCD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87552"/>
            <a:ext cx="10728655" cy="1133856"/>
          </a:xfrm>
          <a:prstGeom prst="rect">
            <a:avLst/>
          </a:prstGeom>
          <a:noFill/>
        </p:spPr>
        <p:txBody>
          <a:bodyPr wrap="square" anchor="t" lIns="0" rIns="0" tIns="0" bIns="0">
            <a:spAutoFit/>
          </a:bodyPr>
          <a:lstStyle/>
          <a:p>
            <a:pPr algn="l">
              <a:lnSpc>
                <a:spcPct val="105000"/>
              </a:lnSpc>
              <a:spcBef>
                <a:spcPts val="0"/>
              </a:spcBef>
              <a:spcAft>
                <a:spcPts val="0"/>
              </a:spcAft>
            </a:pPr>
            <a:r>
              <a:rPr sz="3300" b="1">
                <a:solidFill>
                  <a:srgbClr val="281913"/>
                </a:solidFill>
                <a:latin typeface="Arial"/>
              </a:rPr>
              <a:t>Malaysia is ageing. The paperwork
after a death has not changed.</a:t>
            </a:r>
          </a:p>
        </p:txBody>
      </p:sp>
      <p:sp>
        <p:nvSpPr>
          <p:cNvPr id="6" name="Rectangle 5"/>
          <p:cNvSpPr/>
          <p:nvPr/>
        </p:nvSpPr>
        <p:spPr>
          <a:xfrm>
            <a:off x="731520" y="2194560"/>
            <a:ext cx="1371600" cy="39319"/>
          </a:xfrm>
          <a:prstGeom prst="rect">
            <a:avLst/>
          </a:prstGeom>
          <a:solidFill>
            <a:srgbClr val="BC4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42032"/>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1</a:t>
            </a:r>
          </a:p>
        </p:txBody>
      </p:sp>
      <p:sp>
        <p:nvSpPr>
          <p:cNvPr id="8" name="TextBox 7"/>
          <p:cNvSpPr txBox="1"/>
          <p:nvPr/>
        </p:nvSpPr>
        <p:spPr>
          <a:xfrm>
            <a:off x="1133856" y="2560320"/>
            <a:ext cx="6624933" cy="987552"/>
          </a:xfrm>
          <a:prstGeom prst="rect">
            <a:avLst/>
          </a:prstGeom>
          <a:noFill/>
        </p:spPr>
        <p:txBody>
          <a:bodyPr wrap="square" anchor="t" lIns="0" rIns="0" tIns="0" bIns="0">
            <a:spAutoFit/>
          </a:bodyPr>
          <a:lstStyle/>
          <a:p>
            <a:pPr algn="l">
              <a:lnSpc>
                <a:spcPct val="112000"/>
              </a:lnSpc>
              <a:spcBef>
                <a:spcPts val="0"/>
              </a:spcBef>
              <a:spcAft>
                <a:spcPts val="0"/>
              </a:spcAft>
            </a:pPr>
            <a:r>
              <a:rPr sz="1420" b="1">
                <a:solidFill>
                  <a:srgbClr val="BC4D1A"/>
                </a:solidFill>
                <a:latin typeface="Arial"/>
              </a:rPr>
              <a:t>8.4 per cent of Malaysians are now 65 or over, up from 8.0 per cent a year earlier.</a:t>
            </a:r>
          </a:p>
          <a:p>
            <a:pPr algn="l">
              <a:lnSpc>
                <a:spcPct val="128000"/>
              </a:lnSpc>
              <a:spcBef>
                <a:spcPts val="500"/>
              </a:spcBef>
              <a:spcAft>
                <a:spcPts val="0"/>
              </a:spcAft>
            </a:pPr>
            <a:r>
              <a:rPr sz="1120" b="0">
                <a:solidFill>
                  <a:srgbClr val="6E635C"/>
                </a:solidFill>
                <a:latin typeface="Arial"/>
              </a:rPr>
              <a:t>That is roughly 2.7 million people. 198,992 people died in Malaysia in 2024, and the median age at death is 69.</a:t>
            </a:r>
          </a:p>
        </p:txBody>
      </p:sp>
      <p:sp>
        <p:nvSpPr>
          <p:cNvPr id="9" name="TextBox 8"/>
          <p:cNvSpPr txBox="1"/>
          <p:nvPr/>
        </p:nvSpPr>
        <p:spPr>
          <a:xfrm>
            <a:off x="731520" y="3639312"/>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2</a:t>
            </a:r>
          </a:p>
        </p:txBody>
      </p:sp>
      <p:sp>
        <p:nvSpPr>
          <p:cNvPr id="10" name="TextBox 9"/>
          <p:cNvSpPr txBox="1"/>
          <p:nvPr/>
        </p:nvSpPr>
        <p:spPr>
          <a:xfrm>
            <a:off x="1133856" y="3657600"/>
            <a:ext cx="6624933" cy="987552"/>
          </a:xfrm>
          <a:prstGeom prst="rect">
            <a:avLst/>
          </a:prstGeom>
          <a:noFill/>
        </p:spPr>
        <p:txBody>
          <a:bodyPr wrap="square" anchor="t" lIns="0" rIns="0" tIns="0" bIns="0">
            <a:spAutoFit/>
          </a:bodyPr>
          <a:lstStyle/>
          <a:p>
            <a:pPr algn="l">
              <a:lnSpc>
                <a:spcPct val="112000"/>
              </a:lnSpc>
              <a:spcBef>
                <a:spcPts val="0"/>
              </a:spcBef>
              <a:spcAft>
                <a:spcPts val="0"/>
              </a:spcAft>
            </a:pPr>
            <a:r>
              <a:rPr sz="1420" b="1">
                <a:solidFill>
                  <a:srgbClr val="BC4D1A"/>
                </a:solidFill>
                <a:latin typeface="Arial"/>
              </a:rPr>
              <a:t>Three agencies then ask that family for the same five things, separately.</a:t>
            </a:r>
          </a:p>
          <a:p>
            <a:pPr algn="l">
              <a:lnSpc>
                <a:spcPct val="128000"/>
              </a:lnSpc>
              <a:spcBef>
                <a:spcPts val="500"/>
              </a:spcBef>
              <a:spcAft>
                <a:spcPts val="0"/>
              </a:spcAft>
            </a:pPr>
            <a:r>
              <a:rPr sz="1120" b="0">
                <a:solidFill>
                  <a:srgbClr val="6E635C"/>
                </a:solidFill>
                <a:latin typeface="Arial"/>
              </a:rPr>
              <a:t>JPN, PERKESO and KWSP each demand the same core information again, on three different forms, and mostly in person with original documents.</a:t>
            </a:r>
          </a:p>
        </p:txBody>
      </p:sp>
      <p:sp>
        <p:nvSpPr>
          <p:cNvPr id="11" name="TextBox 10"/>
          <p:cNvSpPr txBox="1"/>
          <p:nvPr/>
        </p:nvSpPr>
        <p:spPr>
          <a:xfrm>
            <a:off x="731520" y="4736592"/>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3</a:t>
            </a:r>
          </a:p>
        </p:txBody>
      </p:sp>
      <p:sp>
        <p:nvSpPr>
          <p:cNvPr id="12" name="TextBox 11"/>
          <p:cNvSpPr txBox="1"/>
          <p:nvPr/>
        </p:nvSpPr>
        <p:spPr>
          <a:xfrm>
            <a:off x="1133856" y="4754879"/>
            <a:ext cx="6624933" cy="987552"/>
          </a:xfrm>
          <a:prstGeom prst="rect">
            <a:avLst/>
          </a:prstGeom>
          <a:noFill/>
        </p:spPr>
        <p:txBody>
          <a:bodyPr wrap="square" anchor="t" lIns="0" rIns="0" tIns="0" bIns="0">
            <a:spAutoFit/>
          </a:bodyPr>
          <a:lstStyle/>
          <a:p>
            <a:pPr algn="l">
              <a:lnSpc>
                <a:spcPct val="112000"/>
              </a:lnSpc>
              <a:spcBef>
                <a:spcPts val="0"/>
              </a:spcBef>
              <a:spcAft>
                <a:spcPts val="0"/>
              </a:spcAft>
            </a:pPr>
            <a:r>
              <a:rPr sz="1420" b="1">
                <a:solidFill>
                  <a:srgbClr val="BC4D1A"/>
                </a:solidFill>
                <a:latin typeface="Arial"/>
              </a:rPr>
              <a:t>Two of the three agencies enforce deadlines they do not fully publish.</a:t>
            </a:r>
          </a:p>
          <a:p>
            <a:pPr algn="l">
              <a:lnSpc>
                <a:spcPct val="128000"/>
              </a:lnSpc>
              <a:spcBef>
                <a:spcPts val="500"/>
              </a:spcBef>
              <a:spcAft>
                <a:spcPts val="0"/>
              </a:spcAft>
            </a:pPr>
            <a:r>
              <a:rPr sz="1120" b="0">
                <a:solidFill>
                  <a:srgbClr val="6E635C"/>
                </a:solidFill>
                <a:latin typeface="Arial"/>
              </a:rPr>
              <a:t>The person left holding that paperwork is usually an older widow or widower. Miss the EPF window and the RM2,500 is gone.</a:t>
            </a:r>
          </a:p>
        </p:txBody>
      </p:sp>
      <p:graphicFrame>
        <p:nvGraphicFramePr>
          <p:cNvPr id="13" name="Table 12"/>
          <p:cNvGraphicFramePr>
            <a:graphicFrameLocks noGrp="1"/>
          </p:cNvGraphicFramePr>
          <p:nvPr/>
        </p:nvGraphicFramePr>
        <p:xfrm>
          <a:off x="7973568" y="2615184"/>
          <a:ext cx="3483864" cy="2331720"/>
        </p:xfrm>
        <a:graphic>
          <a:graphicData uri="http://schemas.openxmlformats.org/drawingml/2006/table">
            <a:tbl>
              <a:tblPr>
                <a:tableStyleId>{5C22544A-7EE6-4342-B048-85BDC9FD1C3A}</a:tableStyleId>
              </a:tblPr>
              <a:tblGrid>
                <a:gridCol w="1344168"/>
                <a:gridCol w="713232"/>
                <a:gridCol w="713232"/>
                <a:gridCol w="713232"/>
              </a:tblGrid>
              <a:tr h="388620">
                <a:tc>
                  <a:txBody>
                    <a:bodyPr/>
                    <a:lstStyle/>
                    <a:p>
                      <a:pPr algn="l"/>
                      <a:r>
                        <a:rPr sz="950" b="1">
                          <a:solidFill>
                            <a:srgbClr val="376D7C"/>
                          </a:solidFill>
                          <a:latin typeface="Arial"/>
                        </a:rPr>
                        <a:t>The same information, demanded again</a:t>
                      </a:r>
                    </a:p>
                  </a:txBody>
                  <a:tcPr>
                    <a:solidFill>
                      <a:srgbClr val="FFFFFF"/>
                    </a:solidFill>
                  </a:tcPr>
                </a:tc>
                <a:tc>
                  <a:txBody>
                    <a:bodyPr/>
                    <a:lstStyle/>
                    <a:p>
                      <a:pPr algn="ctr"/>
                      <a:r>
                        <a:rPr sz="950" b="1">
                          <a:solidFill>
                            <a:srgbClr val="376D7C"/>
                          </a:solidFill>
                          <a:latin typeface="Arial"/>
                        </a:rPr>
                        <a:t>JPN</a:t>
                      </a:r>
                    </a:p>
                  </a:txBody>
                  <a:tcPr>
                    <a:solidFill>
                      <a:srgbClr val="FFFFFF"/>
                    </a:solidFill>
                  </a:tcPr>
                </a:tc>
                <a:tc>
                  <a:txBody>
                    <a:bodyPr/>
                    <a:lstStyle/>
                    <a:p>
                      <a:pPr algn="ctr"/>
                      <a:r>
                        <a:rPr sz="950" b="1">
                          <a:solidFill>
                            <a:srgbClr val="376D7C"/>
                          </a:solidFill>
                          <a:latin typeface="Arial"/>
                        </a:rPr>
                        <a:t>KWSP</a:t>
                      </a:r>
                    </a:p>
                  </a:txBody>
                  <a:tcPr>
                    <a:solidFill>
                      <a:srgbClr val="FFFFFF"/>
                    </a:solidFill>
                  </a:tcPr>
                </a:tc>
                <a:tc>
                  <a:txBody>
                    <a:bodyPr/>
                    <a:lstStyle/>
                    <a:p>
                      <a:pPr algn="ctr"/>
                      <a:r>
                        <a:rPr sz="950" b="1">
                          <a:solidFill>
                            <a:srgbClr val="376D7C"/>
                          </a:solidFill>
                          <a:latin typeface="Arial"/>
                        </a:rPr>
                        <a:t>PERKESO</a:t>
                      </a:r>
                    </a:p>
                  </a:txBody>
                  <a:tcPr>
                    <a:solidFill>
                      <a:srgbClr val="FFFFFF"/>
                    </a:solidFill>
                  </a:tcPr>
                </a:tc>
              </a:tr>
              <a:tr h="388620">
                <a:tc>
                  <a:txBody>
                    <a:bodyPr/>
                    <a:lstStyle/>
                    <a:p>
                      <a:pPr algn="l"/>
                      <a:r>
                        <a:rPr sz="1050" b="0">
                          <a:solidFill>
                            <a:srgbClr val="281913"/>
                          </a:solidFill>
                          <a:latin typeface="Arial"/>
                        </a:rPr>
                        <a:t>Identity of the deceased</a:t>
                      </a:r>
                    </a:p>
                  </a:txBody>
                  <a:tcPr>
                    <a:solidFill>
                      <a:srgbClr val="FFFFFF"/>
                    </a:solidFill>
                  </a:tcPr>
                </a:tc>
                <a:tc>
                  <a:txBody>
                    <a:bodyPr/>
                    <a:lstStyle/>
                    <a:p>
                      <a:pPr algn="ctr"/>
                      <a:r>
                        <a:rPr sz="1100" b="1">
                          <a:solidFill>
                            <a:srgbClr val="BC4D1A"/>
                          </a:solidFill>
                          <a:latin typeface="Arial"/>
                        </a:rPr>
                        <a:t>o</a:t>
                      </a:r>
                    </a:p>
                  </a:txBody>
                  <a:tcPr>
                    <a:solidFill>
                      <a:srgbClr val="FFFFFF"/>
                    </a:solidFill>
                  </a:tcPr>
                </a:tc>
                <a:tc>
                  <a:txBody>
                    <a:bodyPr/>
                    <a:lstStyle/>
                    <a:p>
                      <a:pPr algn="ctr"/>
                      <a:r>
                        <a:rPr sz="1100" b="1">
                          <a:solidFill>
                            <a:srgbClr val="BC4D1A"/>
                          </a:solidFill>
                          <a:latin typeface="Arial"/>
                        </a:rPr>
                        <a:t>o</a:t>
                      </a:r>
                    </a:p>
                  </a:txBody>
                  <a:tcPr>
                    <a:solidFill>
                      <a:srgbClr val="FFFFFF"/>
                    </a:solidFill>
                  </a:tcPr>
                </a:tc>
                <a:tc>
                  <a:txBody>
                    <a:bodyPr/>
                    <a:lstStyle/>
                    <a:p>
                      <a:pPr algn="ctr"/>
                      <a:r>
                        <a:rPr sz="1100" b="1">
                          <a:solidFill>
                            <a:srgbClr val="BC4D1A"/>
                          </a:solidFill>
                          <a:latin typeface="Arial"/>
                        </a:rPr>
                        <a:t>o</a:t>
                      </a:r>
                    </a:p>
                  </a:txBody>
                  <a:tcPr>
                    <a:solidFill>
                      <a:srgbClr val="FFFFFF"/>
                    </a:solidFill>
                  </a:tcPr>
                </a:tc>
              </a:tr>
              <a:tr h="388620">
                <a:tc>
                  <a:txBody>
                    <a:bodyPr/>
                    <a:lstStyle/>
                    <a:p>
                      <a:pPr algn="l"/>
                      <a:r>
                        <a:rPr sz="1050" b="0">
                          <a:solidFill>
                            <a:srgbClr val="281913"/>
                          </a:solidFill>
                          <a:latin typeface="Arial"/>
                        </a:rPr>
                        <a:t>Identity of the claimant</a:t>
                      </a:r>
                    </a:p>
                  </a:txBody>
                  <a:tcPr>
                    <a:solidFill>
                      <a:srgbClr val="FFFFFF"/>
                    </a:solidFill>
                  </a:tcPr>
                </a:tc>
                <a:tc>
                  <a:txBody>
                    <a:bodyPr/>
                    <a:lstStyle/>
                    <a:p>
                      <a:pPr algn="ctr"/>
                      <a:r>
                        <a:rPr sz="1100" b="1">
                          <a:solidFill>
                            <a:srgbClr val="BC4D1A"/>
                          </a:solidFill>
                          <a:latin typeface="Arial"/>
                        </a:rPr>
                        <a:t>o</a:t>
                      </a:r>
                    </a:p>
                  </a:txBody>
                  <a:tcPr>
                    <a:solidFill>
                      <a:srgbClr val="FFFFFF"/>
                    </a:solidFill>
                  </a:tcPr>
                </a:tc>
                <a:tc>
                  <a:txBody>
                    <a:bodyPr/>
                    <a:lstStyle/>
                    <a:p>
                      <a:pPr algn="ctr"/>
                      <a:r>
                        <a:rPr sz="1100" b="1">
                          <a:solidFill>
                            <a:srgbClr val="BC4D1A"/>
                          </a:solidFill>
                          <a:latin typeface="Arial"/>
                        </a:rPr>
                        <a:t>o</a:t>
                      </a:r>
                    </a:p>
                  </a:txBody>
                  <a:tcPr>
                    <a:solidFill>
                      <a:srgbClr val="FFFFFF"/>
                    </a:solidFill>
                  </a:tcPr>
                </a:tc>
                <a:tc>
                  <a:txBody>
                    <a:bodyPr/>
                    <a:lstStyle/>
                    <a:p>
                      <a:pPr algn="ctr"/>
                      <a:r>
                        <a:rPr sz="1100" b="1">
                          <a:solidFill>
                            <a:srgbClr val="BC4D1A"/>
                          </a:solidFill>
                          <a:latin typeface="Arial"/>
                        </a:rPr>
                        <a:t>o</a:t>
                      </a:r>
                    </a:p>
                  </a:txBody>
                  <a:tcPr>
                    <a:solidFill>
                      <a:srgbClr val="FFFFFF"/>
                    </a:solidFill>
                  </a:tcPr>
                </a:tc>
              </a:tr>
              <a:tr h="388620">
                <a:tc>
                  <a:txBody>
                    <a:bodyPr/>
                    <a:lstStyle/>
                    <a:p>
                      <a:pPr algn="l"/>
                      <a:r>
                        <a:rPr sz="1050" b="0">
                          <a:solidFill>
                            <a:srgbClr val="281913"/>
                          </a:solidFill>
                          <a:latin typeface="Arial"/>
                        </a:rPr>
                        <a:t>The fact of the death</a:t>
                      </a:r>
                    </a:p>
                  </a:txBody>
                  <a:tcPr>
                    <a:solidFill>
                      <a:srgbClr val="FFFFFF"/>
                    </a:solidFill>
                  </a:tcPr>
                </a:tc>
                <a:tc>
                  <a:txBody>
                    <a:bodyPr/>
                    <a:lstStyle/>
                    <a:p>
                      <a:pPr algn="ctr"/>
                      <a:r>
                        <a:rPr sz="1100" b="1">
                          <a:solidFill>
                            <a:srgbClr val="BC4D1A"/>
                          </a:solidFill>
                          <a:latin typeface="Arial"/>
                        </a:rPr>
                        <a:t>o</a:t>
                      </a:r>
                    </a:p>
                  </a:txBody>
                  <a:tcPr>
                    <a:solidFill>
                      <a:srgbClr val="FFFFFF"/>
                    </a:solidFill>
                  </a:tcPr>
                </a:tc>
                <a:tc>
                  <a:txBody>
                    <a:bodyPr/>
                    <a:lstStyle/>
                    <a:p>
                      <a:pPr algn="ctr"/>
                      <a:r>
                        <a:rPr sz="1100" b="1">
                          <a:solidFill>
                            <a:srgbClr val="BC4D1A"/>
                          </a:solidFill>
                          <a:latin typeface="Arial"/>
                        </a:rPr>
                        <a:t>o</a:t>
                      </a:r>
                    </a:p>
                  </a:txBody>
                  <a:tcPr>
                    <a:solidFill>
                      <a:srgbClr val="FFFFFF"/>
                    </a:solidFill>
                  </a:tcPr>
                </a:tc>
                <a:tc>
                  <a:txBody>
                    <a:bodyPr/>
                    <a:lstStyle/>
                    <a:p>
                      <a:pPr algn="ctr"/>
                      <a:r>
                        <a:rPr sz="1100" b="1">
                          <a:solidFill>
                            <a:srgbClr val="BC4D1A"/>
                          </a:solidFill>
                          <a:latin typeface="Arial"/>
                        </a:rPr>
                        <a:t>o</a:t>
                      </a:r>
                    </a:p>
                  </a:txBody>
                  <a:tcPr>
                    <a:solidFill>
                      <a:srgbClr val="FFFFFF"/>
                    </a:solidFill>
                  </a:tcPr>
                </a:tc>
              </a:tr>
              <a:tr h="388620">
                <a:tc>
                  <a:txBody>
                    <a:bodyPr/>
                    <a:lstStyle/>
                    <a:p>
                      <a:pPr algn="l"/>
                      <a:r>
                        <a:rPr sz="1050" b="0">
                          <a:solidFill>
                            <a:srgbClr val="281913"/>
                          </a:solidFill>
                          <a:latin typeface="Arial"/>
                        </a:rPr>
                        <a:t>Relationship to the deceased</a:t>
                      </a:r>
                    </a:p>
                  </a:txBody>
                  <a:tcPr>
                    <a:solidFill>
                      <a:srgbClr val="FFFFFF"/>
                    </a:solidFill>
                  </a:tcPr>
                </a:tc>
                <a:tc>
                  <a:txBody>
                    <a:bodyPr/>
                    <a:lstStyle/>
                    <a:p>
                      <a:pPr algn="ctr"/>
                      <a:r>
                        <a:rPr sz="1100" b="1">
                          <a:solidFill>
                            <a:srgbClr val="6E635C"/>
                          </a:solidFill>
                          <a:latin typeface="Arial"/>
                        </a:rPr>
                        <a:t>-</a:t>
                      </a:r>
                    </a:p>
                  </a:txBody>
                  <a:tcPr>
                    <a:solidFill>
                      <a:srgbClr val="FFFFFF"/>
                    </a:solidFill>
                  </a:tcPr>
                </a:tc>
                <a:tc>
                  <a:txBody>
                    <a:bodyPr/>
                    <a:lstStyle/>
                    <a:p>
                      <a:pPr algn="ctr"/>
                      <a:r>
                        <a:rPr sz="1100" b="1">
                          <a:solidFill>
                            <a:srgbClr val="BC4D1A"/>
                          </a:solidFill>
                          <a:latin typeface="Arial"/>
                        </a:rPr>
                        <a:t>o</a:t>
                      </a:r>
                    </a:p>
                  </a:txBody>
                  <a:tcPr>
                    <a:solidFill>
                      <a:srgbClr val="FFFFFF"/>
                    </a:solidFill>
                  </a:tcPr>
                </a:tc>
                <a:tc>
                  <a:txBody>
                    <a:bodyPr/>
                    <a:lstStyle/>
                    <a:p>
                      <a:pPr algn="ctr"/>
                      <a:r>
                        <a:rPr sz="1100" b="1">
                          <a:solidFill>
                            <a:srgbClr val="BC4D1A"/>
                          </a:solidFill>
                          <a:latin typeface="Arial"/>
                        </a:rPr>
                        <a:t>o</a:t>
                      </a:r>
                    </a:p>
                  </a:txBody>
                  <a:tcPr>
                    <a:solidFill>
                      <a:srgbClr val="FFFFFF"/>
                    </a:solidFill>
                  </a:tcPr>
                </a:tc>
              </a:tr>
              <a:tr h="388620">
                <a:tc>
                  <a:txBody>
                    <a:bodyPr/>
                    <a:lstStyle/>
                    <a:p>
                      <a:pPr algn="l"/>
                      <a:r>
                        <a:rPr sz="1050" b="0">
                          <a:solidFill>
                            <a:srgbClr val="281913"/>
                          </a:solidFill>
                          <a:latin typeface="Arial"/>
                        </a:rPr>
                        <a:t>Payment destination</a:t>
                      </a:r>
                    </a:p>
                  </a:txBody>
                  <a:tcPr>
                    <a:solidFill>
                      <a:srgbClr val="FFFFFF"/>
                    </a:solidFill>
                  </a:tcPr>
                </a:tc>
                <a:tc>
                  <a:txBody>
                    <a:bodyPr/>
                    <a:lstStyle/>
                    <a:p>
                      <a:pPr algn="ctr"/>
                      <a:r>
                        <a:rPr sz="1100" b="1">
                          <a:solidFill>
                            <a:srgbClr val="6E635C"/>
                          </a:solidFill>
                          <a:latin typeface="Arial"/>
                        </a:rPr>
                        <a:t>-</a:t>
                      </a:r>
                    </a:p>
                  </a:txBody>
                  <a:tcPr>
                    <a:solidFill>
                      <a:srgbClr val="FFFFFF"/>
                    </a:solidFill>
                  </a:tcPr>
                </a:tc>
                <a:tc>
                  <a:txBody>
                    <a:bodyPr/>
                    <a:lstStyle/>
                    <a:p>
                      <a:pPr algn="ctr"/>
                      <a:r>
                        <a:rPr sz="1100" b="1">
                          <a:solidFill>
                            <a:srgbClr val="BC4D1A"/>
                          </a:solidFill>
                          <a:latin typeface="Arial"/>
                        </a:rPr>
                        <a:t>o</a:t>
                      </a:r>
                    </a:p>
                  </a:txBody>
                  <a:tcPr>
                    <a:solidFill>
                      <a:srgbClr val="FFFFFF"/>
                    </a:solidFill>
                  </a:tcPr>
                </a:tc>
                <a:tc>
                  <a:txBody>
                    <a:bodyPr/>
                    <a:lstStyle/>
                    <a:p>
                      <a:pPr algn="ctr"/>
                      <a:r>
                        <a:rPr sz="1100" b="1">
                          <a:solidFill>
                            <a:srgbClr val="BC4D1A"/>
                          </a:solidFill>
                          <a:latin typeface="Arial"/>
                        </a:rPr>
                        <a:t>o</a:t>
                      </a:r>
                    </a:p>
                  </a:txBody>
                  <a:tcPr>
                    <a:solidFill>
                      <a:srgbClr val="FFFFFF"/>
                    </a:solidFill>
                  </a:tcPr>
                </a:tc>
              </a:tr>
            </a:tbl>
          </a:graphicData>
        </a:graphic>
      </p:graphicFrame>
      <p:sp>
        <p:nvSpPr>
          <p:cNvPr id="14" name="TextBox 13"/>
          <p:cNvSpPr txBox="1"/>
          <p:nvPr/>
        </p:nvSpPr>
        <p:spPr>
          <a:xfrm>
            <a:off x="7973568" y="5029200"/>
            <a:ext cx="3483864" cy="502920"/>
          </a:xfrm>
          <a:prstGeom prst="rect">
            <a:avLst/>
          </a:prstGeom>
          <a:noFill/>
        </p:spPr>
        <p:txBody>
          <a:bodyPr wrap="square" anchor="t" lIns="0" rIns="0" tIns="0" bIns="0">
            <a:spAutoFit/>
          </a:bodyPr>
          <a:lstStyle/>
          <a:p>
            <a:pPr algn="l">
              <a:lnSpc>
                <a:spcPct val="130000"/>
              </a:lnSpc>
              <a:spcBef>
                <a:spcPts val="0"/>
              </a:spcBef>
              <a:spcAft>
                <a:spcPts val="0"/>
              </a:spcAft>
            </a:pPr>
            <a:r>
              <a:rPr sz="1000" b="0">
                <a:solidFill>
                  <a:srgbClr val="6E635C"/>
                </a:solidFill>
                <a:latin typeface="Arial"/>
              </a:rPr>
              <a:t>Three different forms: JPN.LM02, KWSP 9KM (AHL), and Borang 34 or Borang 24 and 26.</a:t>
            </a:r>
          </a:p>
        </p:txBody>
      </p:sp>
      <p:sp>
        <p:nvSpPr>
          <p:cNvPr id="15" name="Rectangle 14"/>
          <p:cNvSpPr/>
          <p:nvPr/>
        </p:nvSpPr>
        <p:spPr>
          <a:xfrm>
            <a:off x="731520" y="5852160"/>
            <a:ext cx="10728655" cy="10972"/>
          </a:xfrm>
          <a:prstGeom prst="rect">
            <a:avLst/>
          </a:prstGeom>
          <a:solidFill>
            <a:srgbClr val="DCD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016752"/>
            <a:ext cx="10728655" cy="685800"/>
          </a:xfrm>
          <a:prstGeom prst="rect">
            <a:avLst/>
          </a:prstGeom>
          <a:noFill/>
        </p:spPr>
        <p:txBody>
          <a:bodyPr wrap="square" anchor="t" lIns="0" rIns="0" tIns="0" bIns="0">
            <a:spAutoFit/>
          </a:bodyPr>
          <a:lstStyle/>
          <a:p>
            <a:pPr algn="l">
              <a:lnSpc>
                <a:spcPct val="130000"/>
              </a:lnSpc>
              <a:spcBef>
                <a:spcPts val="0"/>
              </a:spcBef>
              <a:spcAft>
                <a:spcPts val="0"/>
              </a:spcAft>
            </a:pPr>
            <a:r>
              <a:rPr sz="1250" b="0">
                <a:solidFill>
                  <a:srgbClr val="376D7C"/>
                </a:solidFill>
                <a:latin typeface="Arial"/>
              </a:rPr>
              <a:t>Parliament recorded 72,929 late death registrations between 2003 and 2014, and named funeral rites and religious obligations as the reason families could not meet the deadline. Published accounts describe survivors collecting benefits more than twenty years late, simply because nobody told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20624"/>
            <a:ext cx="7510058" cy="292608"/>
          </a:xfrm>
          <a:prstGeom prst="rect">
            <a:avLst/>
          </a:prstGeom>
          <a:noFill/>
        </p:spPr>
        <p:txBody>
          <a:bodyPr wrap="square" anchor="t" lIns="0" rIns="0" tIns="0" bIns="0">
            <a:spAutoFit/>
          </a:bodyPr>
          <a:lstStyle/>
          <a:p>
            <a:pPr algn="l">
              <a:spcBef>
                <a:spcPts val="0"/>
              </a:spcBef>
              <a:spcAft>
                <a:spcPts val="0"/>
              </a:spcAft>
            </a:pPr>
            <a:r>
              <a:rPr sz="1150" b="1">
                <a:solidFill>
                  <a:srgbClr val="376D7C"/>
                </a:solidFill>
                <a:latin typeface="Arial"/>
              </a:rPr>
              <a:t>2. OUR SOLUTION</a:t>
            </a:r>
          </a:p>
        </p:txBody>
      </p:sp>
      <p:sp>
        <p:nvSpPr>
          <p:cNvPr id="3" name="TextBox 2"/>
          <p:cNvSpPr txBox="1"/>
          <p:nvPr/>
        </p:nvSpPr>
        <p:spPr>
          <a:xfrm>
            <a:off x="8241578" y="420624"/>
            <a:ext cx="3218596" cy="292608"/>
          </a:xfrm>
          <a:prstGeom prst="rect">
            <a:avLst/>
          </a:prstGeom>
          <a:noFill/>
        </p:spPr>
        <p:txBody>
          <a:bodyPr wrap="square" anchor="t" lIns="0" rIns="0" tIns="0" bIns="0">
            <a:spAutoFit/>
          </a:bodyPr>
          <a:lstStyle/>
          <a:p>
            <a:pPr algn="r">
              <a:spcBef>
                <a:spcPts val="0"/>
              </a:spcBef>
              <a:spcAft>
                <a:spcPts val="0"/>
              </a:spcAft>
            </a:pPr>
            <a:r>
              <a:rPr sz="1150" b="0">
                <a:solidFill>
                  <a:srgbClr val="6E635C"/>
                </a:solidFill>
                <a:latin typeface="Arial"/>
              </a:rPr>
              <a:t>3 / 7</a:t>
            </a:r>
          </a:p>
        </p:txBody>
      </p:sp>
      <p:sp>
        <p:nvSpPr>
          <p:cNvPr id="4" name="Rectangle 3"/>
          <p:cNvSpPr/>
          <p:nvPr/>
        </p:nvSpPr>
        <p:spPr>
          <a:xfrm>
            <a:off x="731520" y="822960"/>
            <a:ext cx="10728655" cy="10972"/>
          </a:xfrm>
          <a:prstGeom prst="rect">
            <a:avLst/>
          </a:prstGeom>
          <a:solidFill>
            <a:srgbClr val="DCD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87552"/>
            <a:ext cx="10728655" cy="1133856"/>
          </a:xfrm>
          <a:prstGeom prst="rect">
            <a:avLst/>
          </a:prstGeom>
          <a:noFill/>
        </p:spPr>
        <p:txBody>
          <a:bodyPr wrap="square" anchor="t" lIns="0" rIns="0" tIns="0" bIns="0">
            <a:spAutoFit/>
          </a:bodyPr>
          <a:lstStyle/>
          <a:p>
            <a:pPr algn="l">
              <a:lnSpc>
                <a:spcPct val="105000"/>
              </a:lnSpc>
              <a:spcBef>
                <a:spcPts val="0"/>
              </a:spcBef>
              <a:spcAft>
                <a:spcPts val="0"/>
              </a:spcAft>
            </a:pPr>
            <a:r>
              <a:rPr sz="3300" b="1">
                <a:solidFill>
                  <a:srgbClr val="281913"/>
                </a:solidFill>
                <a:latin typeface="Arial"/>
              </a:rPr>
              <a:t>Provide once. We prepare every claim.</a:t>
            </a:r>
          </a:p>
        </p:txBody>
      </p:sp>
      <p:sp>
        <p:nvSpPr>
          <p:cNvPr id="6" name="Rectangle 5"/>
          <p:cNvSpPr/>
          <p:nvPr/>
        </p:nvSpPr>
        <p:spPr>
          <a:xfrm>
            <a:off x="731520" y="2194560"/>
            <a:ext cx="1371600" cy="39319"/>
          </a:xfrm>
          <a:prstGeom prst="rect">
            <a:avLst/>
          </a:prstGeom>
          <a:solidFill>
            <a:srgbClr val="BC4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42032"/>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1</a:t>
            </a:r>
          </a:p>
        </p:txBody>
      </p:sp>
      <p:sp>
        <p:nvSpPr>
          <p:cNvPr id="8" name="TextBox 7"/>
          <p:cNvSpPr txBox="1"/>
          <p:nvPr/>
        </p:nvSpPr>
        <p:spPr>
          <a:xfrm>
            <a:off x="1133856" y="2560320"/>
            <a:ext cx="5444781" cy="978407"/>
          </a:xfrm>
          <a:prstGeom prst="rect">
            <a:avLst/>
          </a:prstGeom>
          <a:noFill/>
        </p:spPr>
        <p:txBody>
          <a:bodyPr wrap="square" anchor="t" lIns="0" rIns="0" tIns="0" bIns="0">
            <a:spAutoFit/>
          </a:bodyPr>
          <a:lstStyle/>
          <a:p>
            <a:pPr algn="l">
              <a:lnSpc>
                <a:spcPct val="112000"/>
              </a:lnSpc>
              <a:spcBef>
                <a:spcPts val="0"/>
              </a:spcBef>
              <a:spcAft>
                <a:spcPts val="0"/>
              </a:spcAft>
            </a:pPr>
            <a:r>
              <a:rPr sz="1750" b="1">
                <a:solidFill>
                  <a:srgbClr val="BC4D1A"/>
                </a:solidFill>
                <a:latin typeface="Arial"/>
              </a:rPr>
              <a:t>Provide once.</a:t>
            </a:r>
          </a:p>
          <a:p>
            <a:pPr algn="l">
              <a:lnSpc>
                <a:spcPct val="128000"/>
              </a:lnSpc>
              <a:spcBef>
                <a:spcPts val="500"/>
              </a:spcBef>
              <a:spcAft>
                <a:spcPts val="0"/>
              </a:spcAft>
            </a:pPr>
            <a:r>
              <a:rPr sz="1400" b="0">
                <a:solidFill>
                  <a:srgbClr val="6E635C"/>
                </a:solidFill>
                <a:latin typeface="Arial"/>
              </a:rPr>
              <a:t>Identity, proof of death, relationship and bank details, entered a single time.</a:t>
            </a:r>
          </a:p>
        </p:txBody>
      </p:sp>
      <p:sp>
        <p:nvSpPr>
          <p:cNvPr id="9" name="TextBox 8"/>
          <p:cNvSpPr txBox="1"/>
          <p:nvPr/>
        </p:nvSpPr>
        <p:spPr>
          <a:xfrm>
            <a:off x="731520" y="3630168"/>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2</a:t>
            </a:r>
          </a:p>
        </p:txBody>
      </p:sp>
      <p:sp>
        <p:nvSpPr>
          <p:cNvPr id="10" name="TextBox 9"/>
          <p:cNvSpPr txBox="1"/>
          <p:nvPr/>
        </p:nvSpPr>
        <p:spPr>
          <a:xfrm>
            <a:off x="1133856" y="3648456"/>
            <a:ext cx="5444781" cy="978407"/>
          </a:xfrm>
          <a:prstGeom prst="rect">
            <a:avLst/>
          </a:prstGeom>
          <a:noFill/>
        </p:spPr>
        <p:txBody>
          <a:bodyPr wrap="square" anchor="t" lIns="0" rIns="0" tIns="0" bIns="0">
            <a:spAutoFit/>
          </a:bodyPr>
          <a:lstStyle/>
          <a:p>
            <a:pPr algn="l">
              <a:lnSpc>
                <a:spcPct val="112000"/>
              </a:lnSpc>
              <a:spcBef>
                <a:spcPts val="0"/>
              </a:spcBef>
              <a:spcAft>
                <a:spcPts val="0"/>
              </a:spcAft>
            </a:pPr>
            <a:r>
              <a:rPr sz="1750" b="1">
                <a:solidFill>
                  <a:srgbClr val="BC4D1A"/>
                </a:solidFill>
                <a:latin typeface="Arial"/>
              </a:rPr>
              <a:t>Every entitlement, with the government's own rule printed beside it.</a:t>
            </a:r>
          </a:p>
          <a:p>
            <a:pPr algn="l">
              <a:lnSpc>
                <a:spcPct val="128000"/>
              </a:lnSpc>
              <a:spcBef>
                <a:spcPts val="500"/>
              </a:spcBef>
              <a:spcAft>
                <a:spcPts val="0"/>
              </a:spcAft>
            </a:pPr>
            <a:r>
              <a:rPr sz="1400" b="0">
                <a:solidFill>
                  <a:srgbClr val="6E635C"/>
                </a:solidFill>
                <a:latin typeface="Arial"/>
              </a:rPr>
              <a:t>Ranked by deadline, soonest first, never by value.</a:t>
            </a:r>
          </a:p>
        </p:txBody>
      </p:sp>
      <p:sp>
        <p:nvSpPr>
          <p:cNvPr id="11" name="TextBox 10"/>
          <p:cNvSpPr txBox="1"/>
          <p:nvPr/>
        </p:nvSpPr>
        <p:spPr>
          <a:xfrm>
            <a:off x="731520" y="4718304"/>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3</a:t>
            </a:r>
          </a:p>
        </p:txBody>
      </p:sp>
      <p:sp>
        <p:nvSpPr>
          <p:cNvPr id="12" name="TextBox 11"/>
          <p:cNvSpPr txBox="1"/>
          <p:nvPr/>
        </p:nvSpPr>
        <p:spPr>
          <a:xfrm>
            <a:off x="1133856" y="4736592"/>
            <a:ext cx="5444781" cy="978407"/>
          </a:xfrm>
          <a:prstGeom prst="rect">
            <a:avLst/>
          </a:prstGeom>
          <a:noFill/>
        </p:spPr>
        <p:txBody>
          <a:bodyPr wrap="square" anchor="t" lIns="0" rIns="0" tIns="0" bIns="0">
            <a:spAutoFit/>
          </a:bodyPr>
          <a:lstStyle/>
          <a:p>
            <a:pPr algn="l">
              <a:lnSpc>
                <a:spcPct val="112000"/>
              </a:lnSpc>
              <a:spcBef>
                <a:spcPts val="0"/>
              </a:spcBef>
              <a:spcAft>
                <a:spcPts val="0"/>
              </a:spcAft>
            </a:pPr>
            <a:r>
              <a:rPr sz="1750" b="1">
                <a:solidFill>
                  <a:srgbClr val="BC4D1A"/>
                </a:solidFill>
                <a:latin typeface="Arial"/>
              </a:rPr>
              <a:t>Submitted, receipted and tracked. Never approved.</a:t>
            </a:r>
          </a:p>
          <a:p>
            <a:pPr algn="l">
              <a:lnSpc>
                <a:spcPct val="128000"/>
              </a:lnSpc>
              <a:spcBef>
                <a:spcPts val="500"/>
              </a:spcBef>
              <a:spcAft>
                <a:spcPts val="0"/>
              </a:spcAft>
            </a:pPr>
            <a:r>
              <a:rPr sz="1400" b="0">
                <a:solidFill>
                  <a:srgbClr val="6E635C"/>
                </a:solidFill>
                <a:latin typeface="Arial"/>
              </a:rPr>
              <a:t>The agency always keeps the decision. We prepare and file. We never decide who qualifies.</a:t>
            </a:r>
          </a:p>
        </p:txBody>
      </p:sp>
      <p:pic>
        <p:nvPicPr>
          <p:cNvPr id="13" name="Picture 12" descr="live-step2.png"/>
          <p:cNvPicPr>
            <a:picLocks noChangeAspect="1"/>
          </p:cNvPicPr>
          <p:nvPr/>
        </p:nvPicPr>
        <p:blipFill>
          <a:blip r:embed="rId2"/>
          <a:stretch>
            <a:fillRect/>
          </a:stretch>
        </p:blipFill>
        <p:spPr>
          <a:xfrm>
            <a:off x="7187184" y="2468880"/>
            <a:ext cx="3840480" cy="2160270"/>
          </a:xfrm>
          <a:prstGeom prst="rect">
            <a:avLst/>
          </a:prstGeom>
        </p:spPr>
      </p:pic>
      <p:pic>
        <p:nvPicPr>
          <p:cNvPr id="14" name="Picture 13" descr="live-step4.png"/>
          <p:cNvPicPr>
            <a:picLocks noChangeAspect="1"/>
          </p:cNvPicPr>
          <p:nvPr/>
        </p:nvPicPr>
        <p:blipFill>
          <a:blip r:embed="rId3"/>
          <a:stretch>
            <a:fillRect/>
          </a:stretch>
        </p:blipFill>
        <p:spPr>
          <a:xfrm>
            <a:off x="7187184" y="4700016"/>
            <a:ext cx="3840480" cy="2160270"/>
          </a:xfrm>
          <a:prstGeom prst="rect">
            <a:avLst/>
          </a:prstGeom>
        </p:spPr>
      </p:pic>
      <p:sp>
        <p:nvSpPr>
          <p:cNvPr id="15" name="TextBox 14"/>
          <p:cNvSpPr txBox="1"/>
          <p:nvPr/>
        </p:nvSpPr>
        <p:spPr>
          <a:xfrm>
            <a:off x="7187184" y="6053328"/>
            <a:ext cx="3840480" cy="548640"/>
          </a:xfrm>
          <a:prstGeom prst="rect">
            <a:avLst/>
          </a:prstGeom>
          <a:noFill/>
        </p:spPr>
        <p:txBody>
          <a:bodyPr wrap="square" anchor="t" lIns="0" rIns="0" tIns="0" bIns="0">
            <a:spAutoFit/>
          </a:bodyPr>
          <a:lstStyle/>
          <a:p>
            <a:pPr algn="l">
              <a:lnSpc>
                <a:spcPct val="130000"/>
              </a:lnSpc>
              <a:spcBef>
                <a:spcPts val="0"/>
              </a:spcBef>
              <a:spcAft>
                <a:spcPts val="0"/>
              </a:spcAft>
            </a:pPr>
            <a:r>
              <a:rPr sz="1050" b="0">
                <a:solidFill>
                  <a:srgbClr val="6E635C"/>
                </a:solidFill>
                <a:latin typeface="Arial"/>
              </a:rPr>
              <a:t>Live prototype: evidence given once, then consent taken separately for each agency. mytakziah.vercel.app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20624"/>
            <a:ext cx="7510058" cy="292608"/>
          </a:xfrm>
          <a:prstGeom prst="rect">
            <a:avLst/>
          </a:prstGeom>
          <a:noFill/>
        </p:spPr>
        <p:txBody>
          <a:bodyPr wrap="square" anchor="t" lIns="0" rIns="0" tIns="0" bIns="0">
            <a:spAutoFit/>
          </a:bodyPr>
          <a:lstStyle/>
          <a:p>
            <a:pPr algn="l">
              <a:spcBef>
                <a:spcPts val="0"/>
              </a:spcBef>
              <a:spcAft>
                <a:spcPts val="0"/>
              </a:spcAft>
            </a:pPr>
            <a:r>
              <a:rPr sz="1150" b="1">
                <a:solidFill>
                  <a:srgbClr val="376D7C"/>
                </a:solidFill>
                <a:latin typeface="Arial"/>
              </a:rPr>
              <a:t>3. WHAT MAKES IT INNOVATIVE</a:t>
            </a:r>
          </a:p>
        </p:txBody>
      </p:sp>
      <p:sp>
        <p:nvSpPr>
          <p:cNvPr id="3" name="TextBox 2"/>
          <p:cNvSpPr txBox="1"/>
          <p:nvPr/>
        </p:nvSpPr>
        <p:spPr>
          <a:xfrm>
            <a:off x="8241578" y="420624"/>
            <a:ext cx="3218596" cy="292608"/>
          </a:xfrm>
          <a:prstGeom prst="rect">
            <a:avLst/>
          </a:prstGeom>
          <a:noFill/>
        </p:spPr>
        <p:txBody>
          <a:bodyPr wrap="square" anchor="t" lIns="0" rIns="0" tIns="0" bIns="0">
            <a:spAutoFit/>
          </a:bodyPr>
          <a:lstStyle/>
          <a:p>
            <a:pPr algn="r">
              <a:spcBef>
                <a:spcPts val="0"/>
              </a:spcBef>
              <a:spcAft>
                <a:spcPts val="0"/>
              </a:spcAft>
            </a:pPr>
            <a:r>
              <a:rPr sz="1150" b="0">
                <a:solidFill>
                  <a:srgbClr val="6E635C"/>
                </a:solidFill>
                <a:latin typeface="Arial"/>
              </a:rPr>
              <a:t>4 / 7</a:t>
            </a:r>
          </a:p>
        </p:txBody>
      </p:sp>
      <p:sp>
        <p:nvSpPr>
          <p:cNvPr id="4" name="Rectangle 3"/>
          <p:cNvSpPr/>
          <p:nvPr/>
        </p:nvSpPr>
        <p:spPr>
          <a:xfrm>
            <a:off x="731520" y="822960"/>
            <a:ext cx="10728655" cy="10972"/>
          </a:xfrm>
          <a:prstGeom prst="rect">
            <a:avLst/>
          </a:prstGeom>
          <a:solidFill>
            <a:srgbClr val="DCD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87552"/>
            <a:ext cx="10728655" cy="1133856"/>
          </a:xfrm>
          <a:prstGeom prst="rect">
            <a:avLst/>
          </a:prstGeom>
          <a:noFill/>
        </p:spPr>
        <p:txBody>
          <a:bodyPr wrap="square" anchor="t" lIns="0" rIns="0" tIns="0" bIns="0">
            <a:spAutoFit/>
          </a:bodyPr>
          <a:lstStyle/>
          <a:p>
            <a:pPr algn="l">
              <a:lnSpc>
                <a:spcPct val="105000"/>
              </a:lnSpc>
              <a:spcBef>
                <a:spcPts val="0"/>
              </a:spcBef>
              <a:spcAft>
                <a:spcPts val="0"/>
              </a:spcAft>
            </a:pPr>
            <a:r>
              <a:rPr sz="3300" b="1">
                <a:solidFill>
                  <a:srgbClr val="281913"/>
                </a:solidFill>
                <a:latin typeface="Arial"/>
              </a:rPr>
              <a:t>Not a chatbot. A filing engine with
the rulebook attached.</a:t>
            </a:r>
          </a:p>
        </p:txBody>
      </p:sp>
      <p:sp>
        <p:nvSpPr>
          <p:cNvPr id="6" name="Rectangle 5"/>
          <p:cNvSpPr/>
          <p:nvPr/>
        </p:nvSpPr>
        <p:spPr>
          <a:xfrm>
            <a:off x="731520" y="2194560"/>
            <a:ext cx="1371600" cy="39319"/>
          </a:xfrm>
          <a:prstGeom prst="rect">
            <a:avLst/>
          </a:prstGeom>
          <a:solidFill>
            <a:srgbClr val="BC4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42032"/>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1</a:t>
            </a:r>
          </a:p>
        </p:txBody>
      </p:sp>
      <p:sp>
        <p:nvSpPr>
          <p:cNvPr id="8" name="TextBox 7"/>
          <p:cNvSpPr txBox="1"/>
          <p:nvPr/>
        </p:nvSpPr>
        <p:spPr>
          <a:xfrm>
            <a:off x="1133856" y="2560320"/>
            <a:ext cx="6624933" cy="987552"/>
          </a:xfrm>
          <a:prstGeom prst="rect">
            <a:avLst/>
          </a:prstGeom>
          <a:noFill/>
        </p:spPr>
        <p:txBody>
          <a:bodyPr wrap="square" anchor="t" lIns="0" rIns="0" tIns="0" bIns="0">
            <a:spAutoFit/>
          </a:bodyPr>
          <a:lstStyle/>
          <a:p>
            <a:pPr algn="l">
              <a:lnSpc>
                <a:spcPct val="112000"/>
              </a:lnSpc>
              <a:spcBef>
                <a:spcPts val="0"/>
              </a:spcBef>
              <a:spcAft>
                <a:spcPts val="0"/>
              </a:spcAft>
            </a:pPr>
            <a:r>
              <a:rPr sz="1450" b="1">
                <a:solidFill>
                  <a:srgbClr val="BC4D1A"/>
                </a:solidFill>
                <a:latin typeface="Arial"/>
              </a:rPr>
              <a:t>JPN has already built a chatbot. It still cannot reach KWSP.</a:t>
            </a:r>
          </a:p>
          <a:p>
            <a:pPr algn="l">
              <a:lnSpc>
                <a:spcPct val="128000"/>
              </a:lnSpc>
              <a:spcBef>
                <a:spcPts val="500"/>
              </a:spcBef>
              <a:spcAft>
                <a:spcPts val="0"/>
              </a:spcAft>
            </a:pPr>
            <a:r>
              <a:rPr sz="1180" b="0">
                <a:solidFill>
                  <a:srgbClr val="6E635C"/>
                </a:solidFill>
                <a:latin typeface="Arial"/>
              </a:rPr>
              <a:t>A chatbot tells you what to do. MyTakziah does it. That is the whole difference, and it is the reason this has not been solved already.</a:t>
            </a:r>
          </a:p>
        </p:txBody>
      </p:sp>
      <p:sp>
        <p:nvSpPr>
          <p:cNvPr id="9" name="TextBox 8"/>
          <p:cNvSpPr txBox="1"/>
          <p:nvPr/>
        </p:nvSpPr>
        <p:spPr>
          <a:xfrm>
            <a:off x="731520" y="3639312"/>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2</a:t>
            </a:r>
          </a:p>
        </p:txBody>
      </p:sp>
      <p:sp>
        <p:nvSpPr>
          <p:cNvPr id="10" name="TextBox 9"/>
          <p:cNvSpPr txBox="1"/>
          <p:nvPr/>
        </p:nvSpPr>
        <p:spPr>
          <a:xfrm>
            <a:off x="1133856" y="3657600"/>
            <a:ext cx="6624933" cy="987552"/>
          </a:xfrm>
          <a:prstGeom prst="rect">
            <a:avLst/>
          </a:prstGeom>
          <a:noFill/>
        </p:spPr>
        <p:txBody>
          <a:bodyPr wrap="square" anchor="t" lIns="0" rIns="0" tIns="0" bIns="0">
            <a:spAutoFit/>
          </a:bodyPr>
          <a:lstStyle/>
          <a:p>
            <a:pPr algn="l">
              <a:lnSpc>
                <a:spcPct val="112000"/>
              </a:lnSpc>
              <a:spcBef>
                <a:spcPts val="0"/>
              </a:spcBef>
              <a:spcAft>
                <a:spcPts val="0"/>
              </a:spcAft>
            </a:pPr>
            <a:r>
              <a:rPr sz="1450" b="1">
                <a:solidFill>
                  <a:srgbClr val="BC4D1A"/>
                </a:solidFill>
                <a:latin typeface="Arial"/>
              </a:rPr>
              <a:t>Deadline first, and every rule cited to its source.</a:t>
            </a:r>
          </a:p>
          <a:p>
            <a:pPr algn="l">
              <a:lnSpc>
                <a:spcPct val="128000"/>
              </a:lnSpc>
              <a:spcBef>
                <a:spcPts val="500"/>
              </a:spcBef>
              <a:spcAft>
                <a:spcPts val="0"/>
              </a:spcAft>
            </a:pPr>
            <a:r>
              <a:rPr sz="1180" b="0">
                <a:solidFill>
                  <a:srgbClr val="6E635C"/>
                </a:solidFill>
                <a:latin typeface="Arial"/>
              </a:rPr>
              <a:t>Where an agency publishes no deadline, we say so on the screen instead of guessing. Nothing we show a family is invented.</a:t>
            </a:r>
          </a:p>
        </p:txBody>
      </p:sp>
      <p:sp>
        <p:nvSpPr>
          <p:cNvPr id="11" name="TextBox 10"/>
          <p:cNvSpPr txBox="1"/>
          <p:nvPr/>
        </p:nvSpPr>
        <p:spPr>
          <a:xfrm>
            <a:off x="731520" y="4736592"/>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3</a:t>
            </a:r>
          </a:p>
        </p:txBody>
      </p:sp>
      <p:sp>
        <p:nvSpPr>
          <p:cNvPr id="12" name="TextBox 11"/>
          <p:cNvSpPr txBox="1"/>
          <p:nvPr/>
        </p:nvSpPr>
        <p:spPr>
          <a:xfrm>
            <a:off x="1133856" y="4754879"/>
            <a:ext cx="6624933" cy="987552"/>
          </a:xfrm>
          <a:prstGeom prst="rect">
            <a:avLst/>
          </a:prstGeom>
          <a:noFill/>
        </p:spPr>
        <p:txBody>
          <a:bodyPr wrap="square" anchor="t" lIns="0" rIns="0" tIns="0" bIns="0">
            <a:spAutoFit/>
          </a:bodyPr>
          <a:lstStyle/>
          <a:p>
            <a:pPr algn="l">
              <a:lnSpc>
                <a:spcPct val="112000"/>
              </a:lnSpc>
              <a:spcBef>
                <a:spcPts val="0"/>
              </a:spcBef>
              <a:spcAft>
                <a:spcPts val="0"/>
              </a:spcAft>
            </a:pPr>
            <a:r>
              <a:rPr sz="1450" b="1">
                <a:solidFill>
                  <a:srgbClr val="BC4D1A"/>
                </a:solidFill>
                <a:latin typeface="Arial"/>
              </a:rPr>
              <a:t>Routed to the family's own rites.</a:t>
            </a:r>
          </a:p>
          <a:p>
            <a:pPr algn="l">
              <a:lnSpc>
                <a:spcPct val="128000"/>
              </a:lnSpc>
              <a:spcBef>
                <a:spcPts val="500"/>
              </a:spcBef>
              <a:spcAft>
                <a:spcPts val="0"/>
              </a:spcAft>
            </a:pPr>
            <a:r>
              <a:rPr sz="1180" b="0">
                <a:solidFill>
                  <a:srgbClr val="6E635C"/>
                </a:solidFill>
                <a:latin typeface="Arial"/>
              </a:rPr>
              <a:t>The checklist a Muslim family sees is not the one a Chinese or Hindu family sees. Religion changes the documents, the timing and the services that matter.</a:t>
            </a:r>
          </a:p>
        </p:txBody>
      </p:sp>
      <p:pic>
        <p:nvPicPr>
          <p:cNvPr id="13" name="Picture 12" descr="live-step3.png"/>
          <p:cNvPicPr>
            <a:picLocks noChangeAspect="1"/>
          </p:cNvPicPr>
          <p:nvPr/>
        </p:nvPicPr>
        <p:blipFill>
          <a:blip r:embed="rId2"/>
          <a:stretch>
            <a:fillRect/>
          </a:stretch>
        </p:blipFill>
        <p:spPr>
          <a:xfrm>
            <a:off x="7973568" y="2761488"/>
            <a:ext cx="3483864" cy="1959674"/>
          </a:xfrm>
          <a:prstGeom prst="rect">
            <a:avLst/>
          </a:prstGeom>
        </p:spPr>
      </p:pic>
      <p:sp>
        <p:nvSpPr>
          <p:cNvPr id="14" name="TextBox 13"/>
          <p:cNvSpPr txBox="1"/>
          <p:nvPr/>
        </p:nvSpPr>
        <p:spPr>
          <a:xfrm>
            <a:off x="7973568" y="4773168"/>
            <a:ext cx="3483864" cy="731520"/>
          </a:xfrm>
          <a:prstGeom prst="rect">
            <a:avLst/>
          </a:prstGeom>
          <a:noFill/>
        </p:spPr>
        <p:txBody>
          <a:bodyPr wrap="square" anchor="t" lIns="0" rIns="0" tIns="0" bIns="0">
            <a:spAutoFit/>
          </a:bodyPr>
          <a:lstStyle/>
          <a:p>
            <a:pPr algn="l">
              <a:lnSpc>
                <a:spcPct val="130000"/>
              </a:lnSpc>
              <a:spcBef>
                <a:spcPts val="0"/>
              </a:spcBef>
              <a:spcAft>
                <a:spcPts val="0"/>
              </a:spcAft>
            </a:pPr>
            <a:r>
              <a:rPr sz="1000" b="0">
                <a:solidFill>
                  <a:srgbClr val="6E635C"/>
                </a:solidFill>
                <a:latin typeface="Arial"/>
              </a:rPr>
              <a:t>Every entitlement carries its deadline, its source link, and a plain statement of what the agency does not publish.</a:t>
            </a:r>
          </a:p>
        </p:txBody>
      </p:sp>
      <p:sp>
        <p:nvSpPr>
          <p:cNvPr id="15" name="Rectangle 14"/>
          <p:cNvSpPr/>
          <p:nvPr/>
        </p:nvSpPr>
        <p:spPr>
          <a:xfrm>
            <a:off x="731520" y="5925312"/>
            <a:ext cx="10728655" cy="10972"/>
          </a:xfrm>
          <a:prstGeom prst="rect">
            <a:avLst/>
          </a:prstGeom>
          <a:solidFill>
            <a:srgbClr val="DCD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089904"/>
            <a:ext cx="10728655" cy="685800"/>
          </a:xfrm>
          <a:prstGeom prst="rect">
            <a:avLst/>
          </a:prstGeom>
          <a:noFill/>
        </p:spPr>
        <p:txBody>
          <a:bodyPr wrap="square" anchor="t" lIns="0" rIns="0" tIns="0" bIns="0">
            <a:spAutoFit/>
          </a:bodyPr>
          <a:lstStyle/>
          <a:p>
            <a:pPr algn="l">
              <a:lnSpc>
                <a:spcPct val="130000"/>
              </a:lnSpc>
              <a:spcBef>
                <a:spcPts val="0"/>
              </a:spcBef>
              <a:spcAft>
                <a:spcPts val="0"/>
              </a:spcAft>
            </a:pPr>
            <a:r>
              <a:rPr sz="1250" b="0">
                <a:solidFill>
                  <a:srgbClr val="BC4D1A"/>
                </a:solidFill>
                <a:latin typeface="Arial"/>
              </a:rPr>
              <a:t>Other countries built the notification half of this. The UK's Tell Us Once tells departments someone has died; it does not file the claim or protect the deadline, and none of it is built for JPN, KWSP and PERKESO. Our advantage is not the technology. It is that we read these three agencies' forms.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20624"/>
            <a:ext cx="7510058" cy="292608"/>
          </a:xfrm>
          <a:prstGeom prst="rect">
            <a:avLst/>
          </a:prstGeom>
          <a:noFill/>
        </p:spPr>
        <p:txBody>
          <a:bodyPr wrap="square" anchor="t" lIns="0" rIns="0" tIns="0" bIns="0">
            <a:spAutoFit/>
          </a:bodyPr>
          <a:lstStyle/>
          <a:p>
            <a:pPr algn="l">
              <a:spcBef>
                <a:spcPts val="0"/>
              </a:spcBef>
              <a:spcAft>
                <a:spcPts val="0"/>
              </a:spcAft>
            </a:pPr>
            <a:r>
              <a:rPr sz="1150" b="1">
                <a:solidFill>
                  <a:srgbClr val="376D7C"/>
                </a:solidFill>
                <a:latin typeface="Arial"/>
              </a:rPr>
              <a:t>4. HOW IT WORKS AND FEASIBILITY</a:t>
            </a:r>
          </a:p>
        </p:txBody>
      </p:sp>
      <p:sp>
        <p:nvSpPr>
          <p:cNvPr id="3" name="TextBox 2"/>
          <p:cNvSpPr txBox="1"/>
          <p:nvPr/>
        </p:nvSpPr>
        <p:spPr>
          <a:xfrm>
            <a:off x="8241578" y="420624"/>
            <a:ext cx="3218596" cy="292608"/>
          </a:xfrm>
          <a:prstGeom prst="rect">
            <a:avLst/>
          </a:prstGeom>
          <a:noFill/>
        </p:spPr>
        <p:txBody>
          <a:bodyPr wrap="square" anchor="t" lIns="0" rIns="0" tIns="0" bIns="0">
            <a:spAutoFit/>
          </a:bodyPr>
          <a:lstStyle/>
          <a:p>
            <a:pPr algn="r">
              <a:spcBef>
                <a:spcPts val="0"/>
              </a:spcBef>
              <a:spcAft>
                <a:spcPts val="0"/>
              </a:spcAft>
            </a:pPr>
            <a:r>
              <a:rPr sz="1150" b="0">
                <a:solidFill>
                  <a:srgbClr val="6E635C"/>
                </a:solidFill>
                <a:latin typeface="Arial"/>
              </a:rPr>
              <a:t>5 / 7</a:t>
            </a:r>
          </a:p>
        </p:txBody>
      </p:sp>
      <p:sp>
        <p:nvSpPr>
          <p:cNvPr id="4" name="Rectangle 3"/>
          <p:cNvSpPr/>
          <p:nvPr/>
        </p:nvSpPr>
        <p:spPr>
          <a:xfrm>
            <a:off x="731520" y="822960"/>
            <a:ext cx="10728655" cy="10972"/>
          </a:xfrm>
          <a:prstGeom prst="rect">
            <a:avLst/>
          </a:prstGeom>
          <a:solidFill>
            <a:srgbClr val="DCD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87552"/>
            <a:ext cx="10728655" cy="1133856"/>
          </a:xfrm>
          <a:prstGeom prst="rect">
            <a:avLst/>
          </a:prstGeom>
          <a:noFill/>
        </p:spPr>
        <p:txBody>
          <a:bodyPr wrap="square" anchor="t" lIns="0" rIns="0" tIns="0" bIns="0">
            <a:spAutoFit/>
          </a:bodyPr>
          <a:lstStyle/>
          <a:p>
            <a:pPr algn="l">
              <a:lnSpc>
                <a:spcPct val="105000"/>
              </a:lnSpc>
              <a:spcBef>
                <a:spcPts val="0"/>
              </a:spcBef>
              <a:spcAft>
                <a:spcPts val="0"/>
              </a:spcAft>
            </a:pPr>
            <a:r>
              <a:rPr sz="3300" b="1">
                <a:solidFill>
                  <a:srgbClr val="281913"/>
                </a:solidFill>
                <a:latin typeface="Arial"/>
              </a:rPr>
              <a:t>Built already. Honest about what
is not built yet.</a:t>
            </a:r>
          </a:p>
        </p:txBody>
      </p:sp>
      <p:sp>
        <p:nvSpPr>
          <p:cNvPr id="6" name="Rectangle 5"/>
          <p:cNvSpPr/>
          <p:nvPr/>
        </p:nvSpPr>
        <p:spPr>
          <a:xfrm>
            <a:off x="731520" y="2194560"/>
            <a:ext cx="1371600" cy="39319"/>
          </a:xfrm>
          <a:prstGeom prst="rect">
            <a:avLst/>
          </a:prstGeom>
          <a:solidFill>
            <a:srgbClr val="BC4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42032"/>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1</a:t>
            </a:r>
          </a:p>
        </p:txBody>
      </p:sp>
      <p:sp>
        <p:nvSpPr>
          <p:cNvPr id="8" name="TextBox 7"/>
          <p:cNvSpPr txBox="1"/>
          <p:nvPr/>
        </p:nvSpPr>
        <p:spPr>
          <a:xfrm>
            <a:off x="1133856" y="2560320"/>
            <a:ext cx="6249430" cy="969264"/>
          </a:xfrm>
          <a:prstGeom prst="rect">
            <a:avLst/>
          </a:prstGeom>
          <a:noFill/>
        </p:spPr>
        <p:txBody>
          <a:bodyPr wrap="square" anchor="t" lIns="0" rIns="0" tIns="0" bIns="0">
            <a:spAutoFit/>
          </a:bodyPr>
          <a:lstStyle/>
          <a:p>
            <a:pPr algn="l">
              <a:lnSpc>
                <a:spcPct val="112000"/>
              </a:lnSpc>
              <a:spcBef>
                <a:spcPts val="0"/>
              </a:spcBef>
              <a:spcAft>
                <a:spcPts val="0"/>
              </a:spcAft>
            </a:pPr>
            <a:r>
              <a:rPr sz="1750" b="1">
                <a:solidFill>
                  <a:srgbClr val="BC4D1A"/>
                </a:solidFill>
                <a:latin typeface="Arial"/>
              </a:rPr>
              <a:t>A working prototype is live today, not a mockup.</a:t>
            </a:r>
          </a:p>
          <a:p>
            <a:pPr algn="l">
              <a:lnSpc>
                <a:spcPct val="128000"/>
              </a:lnSpc>
              <a:spcBef>
                <a:spcPts val="500"/>
              </a:spcBef>
              <a:spcAft>
                <a:spcPts val="0"/>
              </a:spcAft>
            </a:pPr>
            <a:r>
              <a:rPr sz="1400" b="0">
                <a:solidFill>
                  <a:srgbClr val="6E635C"/>
                </a:solidFill>
                <a:latin typeface="Arial"/>
              </a:rPr>
              <a:t>The full journey runs end to end. The judges can scan it from their seats.</a:t>
            </a:r>
          </a:p>
        </p:txBody>
      </p:sp>
      <p:sp>
        <p:nvSpPr>
          <p:cNvPr id="9" name="TextBox 8"/>
          <p:cNvSpPr txBox="1"/>
          <p:nvPr/>
        </p:nvSpPr>
        <p:spPr>
          <a:xfrm>
            <a:off x="731520" y="3621023"/>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2</a:t>
            </a:r>
          </a:p>
        </p:txBody>
      </p:sp>
      <p:sp>
        <p:nvSpPr>
          <p:cNvPr id="10" name="TextBox 9"/>
          <p:cNvSpPr txBox="1"/>
          <p:nvPr/>
        </p:nvSpPr>
        <p:spPr>
          <a:xfrm>
            <a:off x="1133856" y="3639311"/>
            <a:ext cx="6249430" cy="969264"/>
          </a:xfrm>
          <a:prstGeom prst="rect">
            <a:avLst/>
          </a:prstGeom>
          <a:noFill/>
        </p:spPr>
        <p:txBody>
          <a:bodyPr wrap="square" anchor="t" lIns="0" rIns="0" tIns="0" bIns="0">
            <a:spAutoFit/>
          </a:bodyPr>
          <a:lstStyle/>
          <a:p>
            <a:pPr algn="l">
              <a:lnSpc>
                <a:spcPct val="112000"/>
              </a:lnSpc>
              <a:spcBef>
                <a:spcPts val="0"/>
              </a:spcBef>
              <a:spcAft>
                <a:spcPts val="0"/>
              </a:spcAft>
            </a:pPr>
            <a:r>
              <a:rPr sz="1750" b="1">
                <a:solidFill>
                  <a:srgbClr val="BC4D1A"/>
                </a:solidFill>
                <a:latin typeface="Arial"/>
              </a:rPr>
              <a:t>The national rails already exist.</a:t>
            </a:r>
          </a:p>
          <a:p>
            <a:pPr algn="l">
              <a:lnSpc>
                <a:spcPct val="128000"/>
              </a:lnSpc>
              <a:spcBef>
                <a:spcPts val="500"/>
              </a:spcBef>
              <a:spcAft>
                <a:spcPts val="0"/>
              </a:spcAft>
            </a:pPr>
            <a:r>
              <a:rPr sz="1400" b="0">
                <a:solidFill>
                  <a:srgbClr val="6E635C"/>
                </a:solidFill>
                <a:latin typeface="Arial"/>
              </a:rPr>
              <a:t>MyDigital ID has almost 10 million accounts. MyGDX already connects 81 agencies. We are not asking anyone to build new plumbing.</a:t>
            </a:r>
          </a:p>
        </p:txBody>
      </p:sp>
      <p:sp>
        <p:nvSpPr>
          <p:cNvPr id="11" name="TextBox 10"/>
          <p:cNvSpPr txBox="1"/>
          <p:nvPr/>
        </p:nvSpPr>
        <p:spPr>
          <a:xfrm>
            <a:off x="731520" y="4700016"/>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3</a:t>
            </a:r>
          </a:p>
        </p:txBody>
      </p:sp>
      <p:sp>
        <p:nvSpPr>
          <p:cNvPr id="12" name="TextBox 11"/>
          <p:cNvSpPr txBox="1"/>
          <p:nvPr/>
        </p:nvSpPr>
        <p:spPr>
          <a:xfrm>
            <a:off x="1133856" y="4718304"/>
            <a:ext cx="6249430" cy="969264"/>
          </a:xfrm>
          <a:prstGeom prst="rect">
            <a:avLst/>
          </a:prstGeom>
          <a:noFill/>
        </p:spPr>
        <p:txBody>
          <a:bodyPr wrap="square" anchor="t" lIns="0" rIns="0" tIns="0" bIns="0">
            <a:spAutoFit/>
          </a:bodyPr>
          <a:lstStyle/>
          <a:p>
            <a:pPr algn="l">
              <a:lnSpc>
                <a:spcPct val="112000"/>
              </a:lnSpc>
              <a:spcBef>
                <a:spcPts val="0"/>
              </a:spcBef>
              <a:spcAft>
                <a:spcPts val="0"/>
              </a:spcAft>
            </a:pPr>
            <a:r>
              <a:rPr sz="1750" b="1">
                <a:solidFill>
                  <a:srgbClr val="BC4D1A"/>
                </a:solidFill>
                <a:latin typeface="Arial"/>
              </a:rPr>
              <a:t>Agency integration is proposed, not proven.</a:t>
            </a:r>
          </a:p>
          <a:p>
            <a:pPr algn="l">
              <a:lnSpc>
                <a:spcPct val="128000"/>
              </a:lnSpc>
              <a:spcBef>
                <a:spcPts val="500"/>
              </a:spcBef>
              <a:spcAft>
                <a:spcPts val="0"/>
              </a:spcAft>
            </a:pPr>
            <a:r>
              <a:rPr sz="1400" b="0">
                <a:solidFill>
                  <a:srgbClr val="6E635C"/>
                </a:solidFill>
                <a:latin typeface="Arial"/>
              </a:rPr>
              <a:t>Until an agency connects we print the completed forms and the family carries them. They still know what they are owed and which deadline is first.</a:t>
            </a:r>
          </a:p>
        </p:txBody>
      </p:sp>
      <p:pic>
        <p:nvPicPr>
          <p:cNvPr id="13" name="Picture 12" descr="live-step5.png"/>
          <p:cNvPicPr>
            <a:picLocks noChangeAspect="1"/>
          </p:cNvPicPr>
          <p:nvPr/>
        </p:nvPicPr>
        <p:blipFill>
          <a:blip r:embed="rId2"/>
          <a:stretch>
            <a:fillRect/>
          </a:stretch>
        </p:blipFill>
        <p:spPr>
          <a:xfrm>
            <a:off x="7589520" y="2697480"/>
            <a:ext cx="3840480" cy="2160270"/>
          </a:xfrm>
          <a:prstGeom prst="rect">
            <a:avLst/>
          </a:prstGeom>
        </p:spPr>
      </p:pic>
      <p:sp>
        <p:nvSpPr>
          <p:cNvPr id="14" name="TextBox 13"/>
          <p:cNvSpPr txBox="1"/>
          <p:nvPr/>
        </p:nvSpPr>
        <p:spPr>
          <a:xfrm>
            <a:off x="7589520" y="4956048"/>
            <a:ext cx="3840480" cy="457200"/>
          </a:xfrm>
          <a:prstGeom prst="rect">
            <a:avLst/>
          </a:prstGeom>
          <a:noFill/>
        </p:spPr>
        <p:txBody>
          <a:bodyPr wrap="square" anchor="t" lIns="0" rIns="0" tIns="0" bIns="0">
            <a:spAutoFit/>
          </a:bodyPr>
          <a:lstStyle/>
          <a:p>
            <a:pPr algn="l">
              <a:lnSpc>
                <a:spcPct val="125000"/>
              </a:lnSpc>
              <a:spcBef>
                <a:spcPts val="0"/>
              </a:spcBef>
              <a:spcAft>
                <a:spcPts val="0"/>
              </a:spcAft>
            </a:pPr>
            <a:r>
              <a:rPr sz="1150" b="0">
                <a:solidFill>
                  <a:srgbClr val="6E635C"/>
                </a:solidFill>
                <a:latin typeface="Arial"/>
              </a:rPr>
              <a:t>Three forms prepared from one set of evidence, and one timeline</a:t>
            </a:r>
          </a:p>
        </p:txBody>
      </p:sp>
      <p:sp>
        <p:nvSpPr>
          <p:cNvPr id="15" name="Rectangle 14"/>
          <p:cNvSpPr/>
          <p:nvPr/>
        </p:nvSpPr>
        <p:spPr>
          <a:xfrm>
            <a:off x="731520" y="5888736"/>
            <a:ext cx="10728655" cy="10972"/>
          </a:xfrm>
          <a:prstGeom prst="rect">
            <a:avLst/>
          </a:prstGeom>
          <a:solidFill>
            <a:srgbClr val="DCD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053328"/>
            <a:ext cx="10728655" cy="685800"/>
          </a:xfrm>
          <a:prstGeom prst="rect">
            <a:avLst/>
          </a:prstGeom>
          <a:noFill/>
        </p:spPr>
        <p:txBody>
          <a:bodyPr wrap="square" anchor="t" lIns="0" rIns="0" tIns="0" bIns="0">
            <a:spAutoFit/>
          </a:bodyPr>
          <a:lstStyle/>
          <a:p>
            <a:pPr algn="l">
              <a:lnSpc>
                <a:spcPct val="130000"/>
              </a:lnSpc>
              <a:spcBef>
                <a:spcPts val="0"/>
              </a:spcBef>
              <a:spcAft>
                <a:spcPts val="0"/>
              </a:spcAft>
            </a:pPr>
            <a:r>
              <a:rPr sz="1250" b="0">
                <a:solidFill>
                  <a:srgbClr val="376D7C"/>
                </a:solidFill>
                <a:latin typeface="Arial"/>
              </a:rPr>
              <a:t>Where we are today: a working prototype and rules verified against primary government documents.   Next: a minimum viable product, then one community pilot.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20624"/>
            <a:ext cx="7510058" cy="292608"/>
          </a:xfrm>
          <a:prstGeom prst="rect">
            <a:avLst/>
          </a:prstGeom>
          <a:noFill/>
        </p:spPr>
        <p:txBody>
          <a:bodyPr wrap="square" anchor="t" lIns="0" rIns="0" tIns="0" bIns="0">
            <a:spAutoFit/>
          </a:bodyPr>
          <a:lstStyle/>
          <a:p>
            <a:pPr algn="l">
              <a:spcBef>
                <a:spcPts val="0"/>
              </a:spcBef>
              <a:spcAft>
                <a:spcPts val="0"/>
              </a:spcAft>
            </a:pPr>
            <a:r>
              <a:rPr sz="1150" b="1">
                <a:solidFill>
                  <a:srgbClr val="376D7C"/>
                </a:solidFill>
                <a:latin typeface="Arial"/>
              </a:rPr>
              <a:t>5. IMPACT AND POTENTIAL</a:t>
            </a:r>
          </a:p>
        </p:txBody>
      </p:sp>
      <p:sp>
        <p:nvSpPr>
          <p:cNvPr id="3" name="TextBox 2"/>
          <p:cNvSpPr txBox="1"/>
          <p:nvPr/>
        </p:nvSpPr>
        <p:spPr>
          <a:xfrm>
            <a:off x="8241578" y="420624"/>
            <a:ext cx="3218596" cy="292608"/>
          </a:xfrm>
          <a:prstGeom prst="rect">
            <a:avLst/>
          </a:prstGeom>
          <a:noFill/>
        </p:spPr>
        <p:txBody>
          <a:bodyPr wrap="square" anchor="t" lIns="0" rIns="0" tIns="0" bIns="0">
            <a:spAutoFit/>
          </a:bodyPr>
          <a:lstStyle/>
          <a:p>
            <a:pPr algn="r">
              <a:spcBef>
                <a:spcPts val="0"/>
              </a:spcBef>
              <a:spcAft>
                <a:spcPts val="0"/>
              </a:spcAft>
            </a:pPr>
            <a:r>
              <a:rPr sz="1150" b="0">
                <a:solidFill>
                  <a:srgbClr val="6E635C"/>
                </a:solidFill>
                <a:latin typeface="Arial"/>
              </a:rPr>
              <a:t>6 / 7</a:t>
            </a:r>
          </a:p>
        </p:txBody>
      </p:sp>
      <p:sp>
        <p:nvSpPr>
          <p:cNvPr id="4" name="Rectangle 3"/>
          <p:cNvSpPr/>
          <p:nvPr/>
        </p:nvSpPr>
        <p:spPr>
          <a:xfrm>
            <a:off x="731520" y="822960"/>
            <a:ext cx="10728655" cy="10972"/>
          </a:xfrm>
          <a:prstGeom prst="rect">
            <a:avLst/>
          </a:prstGeom>
          <a:solidFill>
            <a:srgbClr val="DCD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87552"/>
            <a:ext cx="10728655" cy="1133856"/>
          </a:xfrm>
          <a:prstGeom prst="rect">
            <a:avLst/>
          </a:prstGeom>
          <a:noFill/>
        </p:spPr>
        <p:txBody>
          <a:bodyPr wrap="square" anchor="t" lIns="0" rIns="0" tIns="0" bIns="0">
            <a:spAutoFit/>
          </a:bodyPr>
          <a:lstStyle/>
          <a:p>
            <a:pPr algn="l">
              <a:lnSpc>
                <a:spcPct val="105000"/>
              </a:lnSpc>
              <a:spcBef>
                <a:spcPts val="0"/>
              </a:spcBef>
              <a:spcAft>
                <a:spcPts val="0"/>
              </a:spcAft>
            </a:pPr>
            <a:r>
              <a:rPr sz="3300" b="1">
                <a:solidFill>
                  <a:srgbClr val="281913"/>
                </a:solidFill>
                <a:latin typeface="Arial"/>
              </a:rPr>
              <a:t>Three sides benefit. One of them can pay.</a:t>
            </a:r>
          </a:p>
        </p:txBody>
      </p:sp>
      <p:sp>
        <p:nvSpPr>
          <p:cNvPr id="6" name="Rectangle 5"/>
          <p:cNvSpPr/>
          <p:nvPr/>
        </p:nvSpPr>
        <p:spPr>
          <a:xfrm>
            <a:off x="731520" y="2194560"/>
            <a:ext cx="1371600" cy="39319"/>
          </a:xfrm>
          <a:prstGeom prst="rect">
            <a:avLst/>
          </a:prstGeom>
          <a:solidFill>
            <a:srgbClr val="BC4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42032"/>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1</a:t>
            </a:r>
          </a:p>
        </p:txBody>
      </p:sp>
      <p:sp>
        <p:nvSpPr>
          <p:cNvPr id="8" name="TextBox 7"/>
          <p:cNvSpPr txBox="1"/>
          <p:nvPr/>
        </p:nvSpPr>
        <p:spPr>
          <a:xfrm>
            <a:off x="1133856" y="2560320"/>
            <a:ext cx="6624933" cy="987552"/>
          </a:xfrm>
          <a:prstGeom prst="rect">
            <a:avLst/>
          </a:prstGeom>
          <a:noFill/>
        </p:spPr>
        <p:txBody>
          <a:bodyPr wrap="square" anchor="t" lIns="0" rIns="0" tIns="0" bIns="0">
            <a:spAutoFit/>
          </a:bodyPr>
          <a:lstStyle/>
          <a:p>
            <a:pPr algn="l">
              <a:lnSpc>
                <a:spcPct val="112000"/>
              </a:lnSpc>
              <a:spcBef>
                <a:spcPts val="0"/>
              </a:spcBef>
              <a:spcAft>
                <a:spcPts val="0"/>
              </a:spcAft>
            </a:pPr>
            <a:r>
              <a:rPr sz="1450" b="1">
                <a:solidFill>
                  <a:srgbClr val="BC4D1A"/>
                </a:solidFill>
                <a:latin typeface="Arial"/>
              </a:rPr>
              <a:t>Families use it free. Always.</a:t>
            </a:r>
          </a:p>
          <a:p>
            <a:pPr algn="l">
              <a:lnSpc>
                <a:spcPct val="128000"/>
              </a:lnSpc>
              <a:spcBef>
                <a:spcPts val="500"/>
              </a:spcBef>
              <a:spcAft>
                <a:spcPts val="0"/>
              </a:spcAft>
            </a:pPr>
            <a:r>
              <a:rPr sz="1180" b="0">
                <a:solidFill>
                  <a:srgbClr val="6E635C"/>
                </a:solidFill>
                <a:latin typeface="Arial"/>
              </a:rPr>
              <a:t>They are the people least able to pay, at the worst possible moment. Charging them would defeat the point.</a:t>
            </a:r>
          </a:p>
        </p:txBody>
      </p:sp>
      <p:sp>
        <p:nvSpPr>
          <p:cNvPr id="9" name="TextBox 8"/>
          <p:cNvSpPr txBox="1"/>
          <p:nvPr/>
        </p:nvSpPr>
        <p:spPr>
          <a:xfrm>
            <a:off x="731520" y="3639312"/>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2</a:t>
            </a:r>
          </a:p>
        </p:txBody>
      </p:sp>
      <p:sp>
        <p:nvSpPr>
          <p:cNvPr id="10" name="TextBox 9"/>
          <p:cNvSpPr txBox="1"/>
          <p:nvPr/>
        </p:nvSpPr>
        <p:spPr>
          <a:xfrm>
            <a:off x="1133856" y="3657600"/>
            <a:ext cx="6624933" cy="987552"/>
          </a:xfrm>
          <a:prstGeom prst="rect">
            <a:avLst/>
          </a:prstGeom>
          <a:noFill/>
        </p:spPr>
        <p:txBody>
          <a:bodyPr wrap="square" anchor="t" lIns="0" rIns="0" tIns="0" bIns="0">
            <a:spAutoFit/>
          </a:bodyPr>
          <a:lstStyle/>
          <a:p>
            <a:pPr algn="l">
              <a:lnSpc>
                <a:spcPct val="112000"/>
              </a:lnSpc>
              <a:spcBef>
                <a:spcPts val="0"/>
              </a:spcBef>
              <a:spcAft>
                <a:spcPts val="0"/>
              </a:spcAft>
            </a:pPr>
            <a:r>
              <a:rPr sz="1450" b="1">
                <a:solidFill>
                  <a:srgbClr val="BC4D1A"/>
                </a:solidFill>
                <a:latin typeface="Arial"/>
              </a:rPr>
              <a:t>Government gets complete, on time, correctly filled submissions.</a:t>
            </a:r>
          </a:p>
          <a:p>
            <a:pPr algn="l">
              <a:lnSpc>
                <a:spcPct val="128000"/>
              </a:lnSpc>
              <a:spcBef>
                <a:spcPts val="500"/>
              </a:spcBef>
              <a:spcAft>
                <a:spcPts val="0"/>
              </a:spcAft>
            </a:pPr>
            <a:r>
              <a:rPr sz="1180" b="0">
                <a:solidFill>
                  <a:srgbClr val="6E635C"/>
                </a:solidFill>
                <a:latin typeface="Arial"/>
              </a:rPr>
              <a:t>Fewer rejected forms, fewer repeat counter visits, and deaths registered inside the window rather than years late.</a:t>
            </a:r>
          </a:p>
        </p:txBody>
      </p:sp>
      <p:sp>
        <p:nvSpPr>
          <p:cNvPr id="11" name="TextBox 10"/>
          <p:cNvSpPr txBox="1"/>
          <p:nvPr/>
        </p:nvSpPr>
        <p:spPr>
          <a:xfrm>
            <a:off x="731520" y="4736592"/>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3</a:t>
            </a:r>
          </a:p>
        </p:txBody>
      </p:sp>
      <p:sp>
        <p:nvSpPr>
          <p:cNvPr id="12" name="TextBox 11"/>
          <p:cNvSpPr txBox="1"/>
          <p:nvPr/>
        </p:nvSpPr>
        <p:spPr>
          <a:xfrm>
            <a:off x="1133856" y="4754879"/>
            <a:ext cx="6624933" cy="987552"/>
          </a:xfrm>
          <a:prstGeom prst="rect">
            <a:avLst/>
          </a:prstGeom>
          <a:noFill/>
        </p:spPr>
        <p:txBody>
          <a:bodyPr wrap="square" anchor="t" lIns="0" rIns="0" tIns="0" bIns="0">
            <a:spAutoFit/>
          </a:bodyPr>
          <a:lstStyle/>
          <a:p>
            <a:pPr algn="l">
              <a:lnSpc>
                <a:spcPct val="112000"/>
              </a:lnSpc>
              <a:spcBef>
                <a:spcPts val="0"/>
              </a:spcBef>
              <a:spcAft>
                <a:spcPts val="0"/>
              </a:spcAft>
            </a:pPr>
            <a:r>
              <a:rPr sz="1450" b="1">
                <a:solidFill>
                  <a:srgbClr val="BC4D1A"/>
                </a:solidFill>
                <a:latin typeface="Arial"/>
              </a:rPr>
              <a:t>Service providers pay to reach families at the moment of need.</a:t>
            </a:r>
          </a:p>
          <a:p>
            <a:pPr algn="l">
              <a:lnSpc>
                <a:spcPct val="128000"/>
              </a:lnSpc>
              <a:spcBef>
                <a:spcPts val="500"/>
              </a:spcBef>
              <a:spcAft>
                <a:spcPts val="0"/>
              </a:spcAft>
            </a:pPr>
            <a:r>
              <a:rPr sz="1180" b="0">
                <a:solidFill>
                  <a:srgbClr val="6E635C"/>
                </a:solidFill>
                <a:latin typeface="Arial"/>
              </a:rPr>
              <a:t>Funeral, memorial and estate services already spend to find these families. A listing and referral model funds the platform without ever charging the bereaved.</a:t>
            </a:r>
          </a:p>
        </p:txBody>
      </p:sp>
      <p:pic>
        <p:nvPicPr>
          <p:cNvPr id="13" name="Picture 12" descr="med-protection.png"/>
          <p:cNvPicPr>
            <a:picLocks noChangeAspect="1"/>
          </p:cNvPicPr>
          <p:nvPr/>
        </p:nvPicPr>
        <p:blipFill>
          <a:blip r:embed="rId2"/>
          <a:stretch>
            <a:fillRect/>
          </a:stretch>
        </p:blipFill>
        <p:spPr>
          <a:xfrm>
            <a:off x="8046720" y="2651760"/>
            <a:ext cx="1005840" cy="1005840"/>
          </a:xfrm>
          <a:prstGeom prst="rect">
            <a:avLst/>
          </a:prstGeom>
        </p:spPr>
      </p:pic>
      <p:sp>
        <p:nvSpPr>
          <p:cNvPr id="14" name="TextBox 13"/>
          <p:cNvSpPr txBox="1"/>
          <p:nvPr/>
        </p:nvSpPr>
        <p:spPr>
          <a:xfrm>
            <a:off x="7936992" y="3712463"/>
            <a:ext cx="1225296" cy="274320"/>
          </a:xfrm>
          <a:prstGeom prst="rect">
            <a:avLst/>
          </a:prstGeom>
          <a:noFill/>
        </p:spPr>
        <p:txBody>
          <a:bodyPr wrap="square" anchor="t" lIns="0" rIns="0" tIns="0" bIns="0">
            <a:spAutoFit/>
          </a:bodyPr>
          <a:lstStyle/>
          <a:p>
            <a:pPr algn="ctr">
              <a:spcBef>
                <a:spcPts val="0"/>
              </a:spcBef>
              <a:spcAft>
                <a:spcPts val="0"/>
              </a:spcAft>
            </a:pPr>
            <a:r>
              <a:rPr sz="1100" b="1">
                <a:solidFill>
                  <a:srgbClr val="281913"/>
                </a:solidFill>
                <a:latin typeface="Arial"/>
              </a:rPr>
              <a:t>Families</a:t>
            </a:r>
          </a:p>
        </p:txBody>
      </p:sp>
      <p:pic>
        <p:nvPicPr>
          <p:cNvPr id="15" name="Picture 14" descr="med-registry.png"/>
          <p:cNvPicPr>
            <a:picLocks noChangeAspect="1"/>
          </p:cNvPicPr>
          <p:nvPr/>
        </p:nvPicPr>
        <p:blipFill>
          <a:blip r:embed="rId3"/>
          <a:stretch>
            <a:fillRect/>
          </a:stretch>
        </p:blipFill>
        <p:spPr>
          <a:xfrm>
            <a:off x="9235440" y="2651760"/>
            <a:ext cx="1005840" cy="1005840"/>
          </a:xfrm>
          <a:prstGeom prst="rect">
            <a:avLst/>
          </a:prstGeom>
        </p:spPr>
      </p:pic>
      <p:sp>
        <p:nvSpPr>
          <p:cNvPr id="16" name="TextBox 15"/>
          <p:cNvSpPr txBox="1"/>
          <p:nvPr/>
        </p:nvSpPr>
        <p:spPr>
          <a:xfrm>
            <a:off x="9125712" y="3712463"/>
            <a:ext cx="1225296" cy="274320"/>
          </a:xfrm>
          <a:prstGeom prst="rect">
            <a:avLst/>
          </a:prstGeom>
          <a:noFill/>
        </p:spPr>
        <p:txBody>
          <a:bodyPr wrap="square" anchor="t" lIns="0" rIns="0" tIns="0" bIns="0">
            <a:spAutoFit/>
          </a:bodyPr>
          <a:lstStyle/>
          <a:p>
            <a:pPr algn="ctr">
              <a:spcBef>
                <a:spcPts val="0"/>
              </a:spcBef>
              <a:spcAft>
                <a:spcPts val="0"/>
              </a:spcAft>
            </a:pPr>
            <a:r>
              <a:rPr sz="1100" b="1">
                <a:solidFill>
                  <a:srgbClr val="281913"/>
                </a:solidFill>
                <a:latin typeface="Arial"/>
              </a:rPr>
              <a:t>Government</a:t>
            </a:r>
          </a:p>
        </p:txBody>
      </p:sp>
      <p:pic>
        <p:nvPicPr>
          <p:cNvPr id="17" name="Picture 16" descr="med-savings.png"/>
          <p:cNvPicPr>
            <a:picLocks noChangeAspect="1"/>
          </p:cNvPicPr>
          <p:nvPr/>
        </p:nvPicPr>
        <p:blipFill>
          <a:blip r:embed="rId4"/>
          <a:stretch>
            <a:fillRect/>
          </a:stretch>
        </p:blipFill>
        <p:spPr>
          <a:xfrm>
            <a:off x="10424160" y="2651760"/>
            <a:ext cx="1005840" cy="1005840"/>
          </a:xfrm>
          <a:prstGeom prst="rect">
            <a:avLst/>
          </a:prstGeom>
        </p:spPr>
      </p:pic>
      <p:sp>
        <p:nvSpPr>
          <p:cNvPr id="18" name="TextBox 17"/>
          <p:cNvSpPr txBox="1"/>
          <p:nvPr/>
        </p:nvSpPr>
        <p:spPr>
          <a:xfrm>
            <a:off x="10314432" y="3712463"/>
            <a:ext cx="1225296" cy="274320"/>
          </a:xfrm>
          <a:prstGeom prst="rect">
            <a:avLst/>
          </a:prstGeom>
          <a:noFill/>
        </p:spPr>
        <p:txBody>
          <a:bodyPr wrap="square" anchor="t" lIns="0" rIns="0" tIns="0" bIns="0">
            <a:spAutoFit/>
          </a:bodyPr>
          <a:lstStyle/>
          <a:p>
            <a:pPr algn="ctr">
              <a:spcBef>
                <a:spcPts val="0"/>
              </a:spcBef>
              <a:spcAft>
                <a:spcPts val="0"/>
              </a:spcAft>
            </a:pPr>
            <a:r>
              <a:rPr sz="1100" b="1">
                <a:solidFill>
                  <a:srgbClr val="281913"/>
                </a:solidFill>
                <a:latin typeface="Arial"/>
              </a:rPr>
              <a:t>Providers</a:t>
            </a:r>
          </a:p>
        </p:txBody>
      </p:sp>
      <p:pic>
        <p:nvPicPr>
          <p:cNvPr id="19" name="Picture 18" descr="sdg-16.png"/>
          <p:cNvPicPr>
            <a:picLocks noChangeAspect="1"/>
          </p:cNvPicPr>
          <p:nvPr/>
        </p:nvPicPr>
        <p:blipFill>
          <a:blip r:embed="rId5"/>
          <a:stretch>
            <a:fillRect/>
          </a:stretch>
        </p:blipFill>
        <p:spPr>
          <a:xfrm>
            <a:off x="8046720" y="4224528"/>
            <a:ext cx="603504" cy="603504"/>
          </a:xfrm>
          <a:prstGeom prst="rect">
            <a:avLst/>
          </a:prstGeom>
        </p:spPr>
      </p:pic>
      <p:pic>
        <p:nvPicPr>
          <p:cNvPr id="20" name="Picture 19" descr="sdg-1.png"/>
          <p:cNvPicPr>
            <a:picLocks noChangeAspect="1"/>
          </p:cNvPicPr>
          <p:nvPr/>
        </p:nvPicPr>
        <p:blipFill>
          <a:blip r:embed="rId6"/>
          <a:stretch>
            <a:fillRect/>
          </a:stretch>
        </p:blipFill>
        <p:spPr>
          <a:xfrm>
            <a:off x="8723376" y="4224528"/>
            <a:ext cx="603504" cy="603504"/>
          </a:xfrm>
          <a:prstGeom prst="rect">
            <a:avLst/>
          </a:prstGeom>
        </p:spPr>
      </p:pic>
      <p:sp>
        <p:nvSpPr>
          <p:cNvPr id="21" name="TextBox 20"/>
          <p:cNvSpPr txBox="1"/>
          <p:nvPr/>
        </p:nvSpPr>
        <p:spPr>
          <a:xfrm>
            <a:off x="9454896" y="4224528"/>
            <a:ext cx="2011680" cy="685800"/>
          </a:xfrm>
          <a:prstGeom prst="rect">
            <a:avLst/>
          </a:prstGeom>
          <a:noFill/>
        </p:spPr>
        <p:txBody>
          <a:bodyPr wrap="square" anchor="t" lIns="0" rIns="0" tIns="0" bIns="0">
            <a:spAutoFit/>
          </a:bodyPr>
          <a:lstStyle/>
          <a:p>
            <a:pPr algn="l">
              <a:lnSpc>
                <a:spcPct val="130000"/>
              </a:lnSpc>
              <a:spcBef>
                <a:spcPts val="0"/>
              </a:spcBef>
              <a:spcAft>
                <a:spcPts val="0"/>
              </a:spcAft>
            </a:pPr>
            <a:r>
              <a:rPr sz="1000" b="0">
                <a:solidFill>
                  <a:srgbClr val="6E635C"/>
                </a:solidFill>
                <a:latin typeface="Arial"/>
              </a:rPr>
              <a:t>Accountable institutions, and social protection that actually reaches the people entitled to it.</a:t>
            </a:r>
          </a:p>
        </p:txBody>
      </p:sp>
      <p:sp>
        <p:nvSpPr>
          <p:cNvPr id="22" name="Rectangle 21"/>
          <p:cNvSpPr/>
          <p:nvPr/>
        </p:nvSpPr>
        <p:spPr>
          <a:xfrm>
            <a:off x="731520" y="5925312"/>
            <a:ext cx="10728655" cy="10972"/>
          </a:xfrm>
          <a:prstGeom prst="rect">
            <a:avLst/>
          </a:prstGeom>
          <a:solidFill>
            <a:srgbClr val="DCD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089904"/>
            <a:ext cx="10728655" cy="685800"/>
          </a:xfrm>
          <a:prstGeom prst="rect">
            <a:avLst/>
          </a:prstGeom>
          <a:noFill/>
        </p:spPr>
        <p:txBody>
          <a:bodyPr wrap="square" anchor="t" lIns="0" rIns="0" tIns="0" bIns="0">
            <a:spAutoFit/>
          </a:bodyPr>
          <a:lstStyle/>
          <a:p>
            <a:pPr algn="l">
              <a:lnSpc>
                <a:spcPct val="130000"/>
              </a:lnSpc>
              <a:spcBef>
                <a:spcPts val="0"/>
              </a:spcBef>
              <a:spcAft>
                <a:spcPts val="0"/>
              </a:spcAft>
            </a:pPr>
            <a:r>
              <a:rPr sz="1300" b="0">
                <a:solidFill>
                  <a:srgbClr val="376D7C"/>
                </a:solidFill>
                <a:latin typeface="Arial"/>
              </a:rPr>
              <a:t>RM3.24 billion moved through EPF death withdrawals in 2024, across 85,532 cases.   We will measure families served, agencies connected and providers onboarded.   Malaysia first, then the same problem across Southeast Asia.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20624"/>
            <a:ext cx="7510058" cy="292608"/>
          </a:xfrm>
          <a:prstGeom prst="rect">
            <a:avLst/>
          </a:prstGeom>
          <a:noFill/>
        </p:spPr>
        <p:txBody>
          <a:bodyPr wrap="square" anchor="t" lIns="0" rIns="0" tIns="0" bIns="0">
            <a:spAutoFit/>
          </a:bodyPr>
          <a:lstStyle/>
          <a:p>
            <a:pPr algn="l">
              <a:spcBef>
                <a:spcPts val="0"/>
              </a:spcBef>
              <a:spcAft>
                <a:spcPts val="0"/>
              </a:spcAft>
            </a:pPr>
            <a:r>
              <a:rPr sz="1150" b="1">
                <a:solidFill>
                  <a:srgbClr val="376D7C"/>
                </a:solidFill>
                <a:latin typeface="Arial"/>
              </a:rPr>
              <a:t>6. WHY US, AND WHAT WE ARE ASKING FOR</a:t>
            </a:r>
          </a:p>
        </p:txBody>
      </p:sp>
      <p:sp>
        <p:nvSpPr>
          <p:cNvPr id="3" name="TextBox 2"/>
          <p:cNvSpPr txBox="1"/>
          <p:nvPr/>
        </p:nvSpPr>
        <p:spPr>
          <a:xfrm>
            <a:off x="8241578" y="420624"/>
            <a:ext cx="3218596" cy="292608"/>
          </a:xfrm>
          <a:prstGeom prst="rect">
            <a:avLst/>
          </a:prstGeom>
          <a:noFill/>
        </p:spPr>
        <p:txBody>
          <a:bodyPr wrap="square" anchor="t" lIns="0" rIns="0" tIns="0" bIns="0">
            <a:spAutoFit/>
          </a:bodyPr>
          <a:lstStyle/>
          <a:p>
            <a:pPr algn="r">
              <a:spcBef>
                <a:spcPts val="0"/>
              </a:spcBef>
              <a:spcAft>
                <a:spcPts val="0"/>
              </a:spcAft>
            </a:pPr>
            <a:r>
              <a:rPr sz="1150" b="0">
                <a:solidFill>
                  <a:srgbClr val="6E635C"/>
                </a:solidFill>
                <a:latin typeface="Arial"/>
              </a:rPr>
              <a:t>7 / 7</a:t>
            </a:r>
          </a:p>
        </p:txBody>
      </p:sp>
      <p:sp>
        <p:nvSpPr>
          <p:cNvPr id="4" name="Rectangle 3"/>
          <p:cNvSpPr/>
          <p:nvPr/>
        </p:nvSpPr>
        <p:spPr>
          <a:xfrm>
            <a:off x="731520" y="822960"/>
            <a:ext cx="10728655" cy="10972"/>
          </a:xfrm>
          <a:prstGeom prst="rect">
            <a:avLst/>
          </a:prstGeom>
          <a:solidFill>
            <a:srgbClr val="DCD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87552"/>
            <a:ext cx="10728655" cy="1133856"/>
          </a:xfrm>
          <a:prstGeom prst="rect">
            <a:avLst/>
          </a:prstGeom>
          <a:noFill/>
        </p:spPr>
        <p:txBody>
          <a:bodyPr wrap="square" anchor="t" lIns="0" rIns="0" tIns="0" bIns="0">
            <a:spAutoFit/>
          </a:bodyPr>
          <a:lstStyle/>
          <a:p>
            <a:pPr algn="l">
              <a:lnSpc>
                <a:spcPct val="105000"/>
              </a:lnSpc>
              <a:spcBef>
                <a:spcPts val="0"/>
              </a:spcBef>
              <a:spcAft>
                <a:spcPts val="0"/>
              </a:spcAft>
            </a:pPr>
            <a:r>
              <a:rPr sz="3300" b="1">
                <a:solidFill>
                  <a:srgbClr val="281913"/>
                </a:solidFill>
                <a:latin typeface="Arial"/>
              </a:rPr>
              <a:t>We already built it. We need the doors.</a:t>
            </a:r>
          </a:p>
        </p:txBody>
      </p:sp>
      <p:sp>
        <p:nvSpPr>
          <p:cNvPr id="6" name="Rectangle 5"/>
          <p:cNvSpPr/>
          <p:nvPr/>
        </p:nvSpPr>
        <p:spPr>
          <a:xfrm>
            <a:off x="731520" y="2194560"/>
            <a:ext cx="1371600" cy="39319"/>
          </a:xfrm>
          <a:prstGeom prst="rect">
            <a:avLst/>
          </a:prstGeom>
          <a:solidFill>
            <a:srgbClr val="BC4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42032"/>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1</a:t>
            </a:r>
          </a:p>
        </p:txBody>
      </p:sp>
      <p:sp>
        <p:nvSpPr>
          <p:cNvPr id="8" name="TextBox 7"/>
          <p:cNvSpPr txBox="1"/>
          <p:nvPr/>
        </p:nvSpPr>
        <p:spPr>
          <a:xfrm>
            <a:off x="1133856" y="2560320"/>
            <a:ext cx="7536868" cy="1005840"/>
          </a:xfrm>
          <a:prstGeom prst="rect">
            <a:avLst/>
          </a:prstGeom>
          <a:noFill/>
        </p:spPr>
        <p:txBody>
          <a:bodyPr wrap="square" anchor="t" lIns="0" rIns="0" tIns="0" bIns="0">
            <a:spAutoFit/>
          </a:bodyPr>
          <a:lstStyle/>
          <a:p>
            <a:pPr algn="l">
              <a:lnSpc>
                <a:spcPct val="112000"/>
              </a:lnSpc>
              <a:spcBef>
                <a:spcPts val="0"/>
              </a:spcBef>
              <a:spcAft>
                <a:spcPts val="0"/>
              </a:spcAft>
            </a:pPr>
            <a:r>
              <a:rPr sz="1750" b="1">
                <a:solidFill>
                  <a:srgbClr val="BC4D1A"/>
                </a:solidFill>
                <a:latin typeface="Arial"/>
              </a:rPr>
              <a:t>Two computer science students and two actuarial science students.</a:t>
            </a:r>
          </a:p>
          <a:p>
            <a:pPr algn="l">
              <a:lnSpc>
                <a:spcPct val="128000"/>
              </a:lnSpc>
              <a:spcBef>
                <a:spcPts val="500"/>
              </a:spcBef>
              <a:spcAft>
                <a:spcPts val="0"/>
              </a:spcAft>
            </a:pPr>
            <a:r>
              <a:rPr sz="1450" b="0">
                <a:solidFill>
                  <a:srgbClr val="6E635C"/>
                </a:solidFill>
                <a:latin typeface="Arial"/>
              </a:rPr>
              <a:t>The eligibility rules, contribution tests and deadlines behind this are actuarial work, and we did that ourselves rather than guessing at it.</a:t>
            </a:r>
          </a:p>
        </p:txBody>
      </p:sp>
      <p:sp>
        <p:nvSpPr>
          <p:cNvPr id="9" name="TextBox 8"/>
          <p:cNvSpPr txBox="1"/>
          <p:nvPr/>
        </p:nvSpPr>
        <p:spPr>
          <a:xfrm>
            <a:off x="731520" y="3657599"/>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2</a:t>
            </a:r>
          </a:p>
        </p:txBody>
      </p:sp>
      <p:sp>
        <p:nvSpPr>
          <p:cNvPr id="10" name="TextBox 9"/>
          <p:cNvSpPr txBox="1"/>
          <p:nvPr/>
        </p:nvSpPr>
        <p:spPr>
          <a:xfrm>
            <a:off x="1133856" y="3675887"/>
            <a:ext cx="7536868" cy="1005840"/>
          </a:xfrm>
          <a:prstGeom prst="rect">
            <a:avLst/>
          </a:prstGeom>
          <a:noFill/>
        </p:spPr>
        <p:txBody>
          <a:bodyPr wrap="square" anchor="t" lIns="0" rIns="0" tIns="0" bIns="0">
            <a:spAutoFit/>
          </a:bodyPr>
          <a:lstStyle/>
          <a:p>
            <a:pPr algn="l">
              <a:lnSpc>
                <a:spcPct val="112000"/>
              </a:lnSpc>
              <a:spcBef>
                <a:spcPts val="0"/>
              </a:spcBef>
              <a:spcAft>
                <a:spcPts val="0"/>
              </a:spcAft>
            </a:pPr>
            <a:r>
              <a:rPr sz="1750" b="1">
                <a:solidFill>
                  <a:srgbClr val="BC4D1A"/>
                </a:solidFill>
                <a:latin typeface="Arial"/>
              </a:rPr>
              <a:t>Every number here is verified against primary government documents.</a:t>
            </a:r>
          </a:p>
          <a:p>
            <a:pPr algn="l">
              <a:lnSpc>
                <a:spcPct val="128000"/>
              </a:lnSpc>
              <a:spcBef>
                <a:spcPts val="500"/>
              </a:spcBef>
              <a:spcAft>
                <a:spcPts val="0"/>
              </a:spcAft>
            </a:pPr>
            <a:r>
              <a:rPr sz="1450" b="0">
                <a:solidFill>
                  <a:srgbClr val="6E635C"/>
                </a:solidFill>
                <a:latin typeface="Arial"/>
              </a:rPr>
              <a:t>Where we could not verify something we left it off the slide. We would rather be narrow than wrong.</a:t>
            </a:r>
          </a:p>
        </p:txBody>
      </p:sp>
      <p:sp>
        <p:nvSpPr>
          <p:cNvPr id="11" name="TextBox 10"/>
          <p:cNvSpPr txBox="1"/>
          <p:nvPr/>
        </p:nvSpPr>
        <p:spPr>
          <a:xfrm>
            <a:off x="731520" y="4773168"/>
            <a:ext cx="384048" cy="365760"/>
          </a:xfrm>
          <a:prstGeom prst="rect">
            <a:avLst/>
          </a:prstGeom>
          <a:noFill/>
        </p:spPr>
        <p:txBody>
          <a:bodyPr wrap="square" anchor="t" lIns="0" rIns="0" tIns="0" bIns="0">
            <a:spAutoFit/>
          </a:bodyPr>
          <a:lstStyle/>
          <a:p>
            <a:pPr algn="l">
              <a:spcBef>
                <a:spcPts val="0"/>
              </a:spcBef>
              <a:spcAft>
                <a:spcPts val="0"/>
              </a:spcAft>
            </a:pPr>
            <a:r>
              <a:rPr sz="1500" b="1">
                <a:solidFill>
                  <a:srgbClr val="DCD5CE"/>
                </a:solidFill>
                <a:latin typeface="Arial"/>
              </a:rPr>
              <a:t>3</a:t>
            </a:r>
          </a:p>
        </p:txBody>
      </p:sp>
      <p:sp>
        <p:nvSpPr>
          <p:cNvPr id="12" name="TextBox 11"/>
          <p:cNvSpPr txBox="1"/>
          <p:nvPr/>
        </p:nvSpPr>
        <p:spPr>
          <a:xfrm>
            <a:off x="1133856" y="4791456"/>
            <a:ext cx="7536868" cy="1005840"/>
          </a:xfrm>
          <a:prstGeom prst="rect">
            <a:avLst/>
          </a:prstGeom>
          <a:noFill/>
        </p:spPr>
        <p:txBody>
          <a:bodyPr wrap="square" anchor="t" lIns="0" rIns="0" tIns="0" bIns="0">
            <a:spAutoFit/>
          </a:bodyPr>
          <a:lstStyle/>
          <a:p>
            <a:pPr algn="l">
              <a:lnSpc>
                <a:spcPct val="112000"/>
              </a:lnSpc>
              <a:spcBef>
                <a:spcPts val="0"/>
              </a:spcBef>
              <a:spcAft>
                <a:spcPts val="0"/>
              </a:spcAft>
            </a:pPr>
            <a:r>
              <a:rPr sz="1750" b="1">
                <a:solidFill>
                  <a:srgbClr val="BC4D1A"/>
                </a:solidFill>
                <a:latin typeface="Arial"/>
              </a:rPr>
              <a:t>What we need is not mainly money. It is access.</a:t>
            </a:r>
          </a:p>
          <a:p>
            <a:pPr algn="l">
              <a:lnSpc>
                <a:spcPct val="128000"/>
              </a:lnSpc>
              <a:spcBef>
                <a:spcPts val="500"/>
              </a:spcBef>
              <a:spcAft>
                <a:spcPts val="0"/>
              </a:spcAft>
            </a:pPr>
            <a:r>
              <a:rPr sz="1450" b="0">
                <a:solidFill>
                  <a:srgbClr val="6E635C"/>
                </a:solidFill>
                <a:latin typeface="Arial"/>
              </a:rPr>
              <a:t>We do not reach families by advertising. We reach one community, through the people already trusted with a death there. Introduce us to one, and to service providers.</a:t>
            </a:r>
          </a:p>
        </p:txBody>
      </p:sp>
      <p:pic>
        <p:nvPicPr>
          <p:cNvPr id="13" name="Picture 12" descr="qr-logo.png"/>
          <p:cNvPicPr>
            <a:picLocks noChangeAspect="1"/>
          </p:cNvPicPr>
          <p:nvPr/>
        </p:nvPicPr>
        <p:blipFill>
          <a:blip r:embed="rId2"/>
          <a:stretch>
            <a:fillRect/>
          </a:stretch>
        </p:blipFill>
        <p:spPr>
          <a:xfrm>
            <a:off x="9857232" y="2578608"/>
            <a:ext cx="1700784" cy="1700784"/>
          </a:xfrm>
          <a:prstGeom prst="rect">
            <a:avLst/>
          </a:prstGeom>
        </p:spPr>
      </p:pic>
      <p:sp>
        <p:nvSpPr>
          <p:cNvPr id="14" name="TextBox 13"/>
          <p:cNvSpPr txBox="1"/>
          <p:nvPr/>
        </p:nvSpPr>
        <p:spPr>
          <a:xfrm>
            <a:off x="9646920" y="4443984"/>
            <a:ext cx="2148840" cy="548640"/>
          </a:xfrm>
          <a:prstGeom prst="rect">
            <a:avLst/>
          </a:prstGeom>
          <a:noFill/>
        </p:spPr>
        <p:txBody>
          <a:bodyPr wrap="square" anchor="t" lIns="0" rIns="0" tIns="0" bIns="0">
            <a:spAutoFit/>
          </a:bodyPr>
          <a:lstStyle/>
          <a:p>
            <a:pPr algn="ctr">
              <a:spcBef>
                <a:spcPts val="0"/>
              </a:spcBef>
              <a:spcAft>
                <a:spcPts val="0"/>
              </a:spcAft>
            </a:pPr>
            <a:r>
              <a:rPr sz="1150" b="0">
                <a:solidFill>
                  <a:srgbClr val="6E635C"/>
                </a:solidFill>
                <a:latin typeface="Arial"/>
              </a:rPr>
              <a:t>mytakziah.vercel.app</a:t>
            </a:r>
          </a:p>
        </p:txBody>
      </p:sp>
      <p:sp>
        <p:nvSpPr>
          <p:cNvPr id="15" name="Rectangle 14"/>
          <p:cNvSpPr/>
          <p:nvPr/>
        </p:nvSpPr>
        <p:spPr>
          <a:xfrm>
            <a:off x="731520" y="5907024"/>
            <a:ext cx="10728655" cy="10972"/>
          </a:xfrm>
          <a:prstGeom prst="rect">
            <a:avLst/>
          </a:prstGeom>
          <a:solidFill>
            <a:srgbClr val="DCD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126480"/>
            <a:ext cx="10728655" cy="502920"/>
          </a:xfrm>
          <a:prstGeom prst="rect">
            <a:avLst/>
          </a:prstGeom>
          <a:noFill/>
        </p:spPr>
        <p:txBody>
          <a:bodyPr wrap="square" anchor="t" lIns="0" rIns="0" tIns="0" bIns="0">
            <a:spAutoFit/>
          </a:bodyPr>
          <a:lstStyle/>
          <a:p>
            <a:pPr algn="l">
              <a:spcBef>
                <a:spcPts val="0"/>
              </a:spcBef>
              <a:spcAft>
                <a:spcPts val="0"/>
              </a:spcAft>
            </a:pPr>
            <a:r>
              <a:rPr sz="2400" b="1">
                <a:solidFill>
                  <a:srgbClr val="BC4D1A"/>
                </a:solidFill>
                <a:latin typeface="Arial"/>
              </a:rPr>
              <a:t>One death. Told to government once.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